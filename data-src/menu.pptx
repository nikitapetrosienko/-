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</p:sldIdLst>
  <p:sldSz cx="6858000" cy="9906000" type="A4"/>
  <p:notesSz cx="6858000" cy="9144000"/>
  <p:embeddedFontLst>
    <p:embeddedFont>
      <p:font typeface="Montserrat" pitchFamily="2" charset="-52"/>
      <p:regular r:id="rId165"/>
      <p:bold r:id="rId166"/>
      <p:italic r:id="rId167"/>
      <p:boldItalic r:id="rId168"/>
    </p:embeddedFont>
    <p:embeddedFont>
      <p:font typeface="Calibri" panose="020F0502020204030204" pitchFamily="34" charset="0"/>
      <p:regular r:id="rId169"/>
      <p:bold r:id="rId170"/>
      <p:italic r:id="rId171"/>
      <p:boldItalic r:id="rId172"/>
    </p:embeddedFont>
    <p:embeddedFont>
      <p:font typeface="Helvetica Neue" panose="020B0604020202020204" charset="0"/>
      <p:regular r:id="rId173"/>
      <p:bold r:id="rId174"/>
      <p:italic r:id="rId175"/>
      <p:boldItalic r:id="rId1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44">
          <p15:clr>
            <a:srgbClr val="A4A3A4"/>
          </p15:clr>
        </p15:guide>
        <p15:guide id="2" pos="2160">
          <p15:clr>
            <a:srgbClr val="A4A3A4"/>
          </p15:clr>
        </p15:guide>
        <p15:guide id="3" pos="232">
          <p15:clr>
            <a:srgbClr val="A4A3A4"/>
          </p15:clr>
        </p15:guide>
        <p15:guide id="4" pos="4065">
          <p15:clr>
            <a:srgbClr val="A4A3A4"/>
          </p15:clr>
        </p15:guide>
        <p15:guide id="5" orient="horz" pos="3233">
          <p15:clr>
            <a:srgbClr val="A4A3A4"/>
          </p15:clr>
        </p15:guide>
        <p15:guide id="6" pos="2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485686-D4D2-4F7A-8227-E6D9CD88DBFD}">
  <a:tblStyle styleId="{AA485686-D4D2-4F7A-8227-E6D9CD88DB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302" y="72"/>
      </p:cViewPr>
      <p:guideLst>
        <p:guide orient="horz" pos="444"/>
        <p:guide pos="2160"/>
        <p:guide pos="232"/>
        <p:guide pos="4065"/>
        <p:guide orient="horz" pos="3233"/>
        <p:guide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6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7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font" Target="fonts/font8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10.fntdata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notesMaster" Target="notesMasters/notesMaster1.xml"/><Relationship Id="rId16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11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1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12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0fd5974b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0fd5974bc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b0fd5974bc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" name="Google Shape;473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2" name="Google Shape;52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5" name="Google Shape;575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4" name="Google Shape;584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3" name="Google Shape;593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6" name="Google Shape;606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" name="Google Shape;61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5" name="Google Shape;615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2" name="Google Shape;622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4" name="Google Shape;644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3" name="Google Shape;653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2" name="Google Shape;662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5" name="Google Shape;675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4" name="Google Shape;684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3" name="Google Shape;693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6" name="Google Shape;706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5" name="Google Shape;715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4" name="Google Shape;724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7" name="Google Shape;737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5" name="Google Shape;745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6" name="Google Shape;746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5" name="Google Shape;755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4" name="Google Shape;764;p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7" name="Google Shape;777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6" name="Google Shape;786;p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4" name="Google Shape;794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5" name="Google Shape;795;p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8" name="Google Shape;808;p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6" name="Google Shape;816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7" name="Google Shape;817;p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" name="Google Shape;829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0" name="Google Shape;830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9" name="Google Shape;839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6" name="Google Shape;846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4" name="Google Shape;854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5" name="Google Shape;855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7" name="Google Shape;867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8" name="Google Shape;868;p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6" name="Google Shape;876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7" name="Google Shape;877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5" name="Google Shape;885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9" name="Google Shape;899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8" name="Google Shape;908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8" name="Google Shape;928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6" name="Google Shape;936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7" name="Google Shape;937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9" name="Google Shape;949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0" name="Google Shape;950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8" name="Google Shape;95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9" name="Google Shape;959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1" name="Google Shape;971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2" name="Google Shape;972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0" name="Google Shape;980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1" name="Google Shape;981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3" name="Google Shape;993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4" name="Google Shape;994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2" name="Google Shape;1002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3" name="Google Shape;1003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93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2" name="Google Shape;1012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4" name="Google Shape;1024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5" name="Google Shape;1025;p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" name="Google Shape;1033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4" name="Google Shape;1034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6" name="Google Shape;1046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7" name="Google Shape;1047;p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5" name="Google Shape;1055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6" name="Google Shape;1056;p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8" name="Google Shape;1068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9" name="Google Shape;1069;p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8" name="Google Shape;1078;p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1" name="Google Shape;1091;p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9" name="Google Shape;1099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0" name="Google Shape;1100;p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2" name="Google Shape;1112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3" name="Google Shape;1113;p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1" name="Google Shape;1121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2" name="Google Shape;1122;p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104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8" name="Google Shape;1128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9" name="Google Shape;1129;p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105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7" name="Google Shape;1137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8" name="Google Shape;1138;p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0" name="Google Shape;1150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1" name="Google Shape;1151;p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b0fd5974b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b0fd5974bc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g3b0fd5974bc_0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108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b0fd5974b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b0fd5974bc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g3b0fd5974bc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109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5" name="Google Shape;1175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6" name="Google Shape;1176;p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8" name="Google Shape;1188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9" name="Google Shape;1189;p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7" name="Google Shape;1197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8" name="Google Shape;1198;p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0" name="Google Shape;1210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1" name="Google Shape;1211;p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9" name="Google Shape;1219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0" name="Google Shape;1220;p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3" name="Google Shape;1233;p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1" name="Google Shape;1241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2" name="Google Shape;1242;p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116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" name="Google Shape;1250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1" name="Google Shape;1251;p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3" name="Google Shape;1263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4" name="Google Shape;1264;p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2" name="Google Shape;1272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3" name="Google Shape;1273;p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5" name="Google Shape;1285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6" name="Google Shape;1286;p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4" name="Google Shape;1294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5" name="Google Shape;1295;p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7" name="Google Shape;1307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8" name="Google Shape;1308;p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6" name="Google Shape;1316;p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7" name="Google Shape;1317;p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123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5" name="Google Shape;1325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6" name="Google Shape;1326;p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8" name="Google Shape;1338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9" name="Google Shape;1339;p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7" name="Google Shape;1347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8" name="Google Shape;1348;p1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0" name="Google Shape;1360;p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1" name="Google Shape;1361;p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9" name="Google Shape;1369;p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0" name="Google Shape;1370;p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2" name="Google Shape;1382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3" name="Google Shape;1383;p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1" name="Google Shape;1391;p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2" name="Google Shape;1392;p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4" name="Google Shape;1404;p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5" name="Google Shape;1405;p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3" name="Google Shape;1413;p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4" name="Google Shape;1414;p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6" name="Google Shape;1426;p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7" name="Google Shape;1427;p1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133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5" name="Google Shape;1435;p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6" name="Google Shape;1436;p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134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8" name="Google Shape;1448;p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9" name="Google Shape;1449;p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135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7" name="Google Shape;1457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8" name="Google Shape;1458;p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136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0" name="Google Shape;1470;p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1" name="Google Shape;1471;p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137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9" name="Google Shape;1479;p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0" name="Google Shape;1480;p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138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2" name="Google Shape;1492;p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3" name="Google Shape;1493;p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139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1" name="Google Shape;1501;p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2" name="Google Shape;1502;p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140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4" name="Google Shape;1514;p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5" name="Google Shape;1515;p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141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7" name="Google Shape;1527;p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8" name="Google Shape;1528;p1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142</a:t>
            </a:fld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6" name="Google Shape;1536;p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7" name="Google Shape;1537;p1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143</a:t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3" name="Google Shape;1543;p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4" name="Google Shape;1544;p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144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b0fd5974bc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b0fd5974bc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g3b0fd5974bc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145</a:t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b0fd5974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3b0fd5974bc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g3b0fd5974bc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146</a:t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b0fd5974b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3b0fd5974bc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g3b0fd5974bc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147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b0fd5974b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3b0fd5974bc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g3b0fd5974bc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148</a:t>
            </a:fld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b0fd5974b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3b0fd5974bc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g3b0fd5974bc_0_1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149</a:t>
            </a:fld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b0fd5974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3b0fd5974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g3b0fd5974bc_0_1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150</a:t>
            </a:fld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b0fd5974b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b0fd5974bc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g3b0fd5974bc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151</a:t>
            </a:fld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b0fd5974b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b0fd5974bc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g3b0fd5974bc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152</a:t>
            </a:fld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b0fd5974bc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b0fd5974bc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g3b0fd5974bc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153</a:t>
            </a:fld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3b0fd5974bc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3b0fd5974bc_0_1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g3b0fd5974bc_0_1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154</a:t>
            </a:fld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b0fd5974b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b0fd5974bc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g3b0fd5974bc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155</a:t>
            </a:fld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b0fd5974b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3b0fd5974bc_0_1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g3b0fd5974bc_0_1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156</a:t>
            </a:fld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3b0fd5974b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3b0fd5974bc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g3b0fd5974bc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157</a:t>
            </a:fld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b0fd5974bc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b0fd5974bc_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g3b0fd5974bc_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158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3b0fd5974b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3b0fd5974bc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g3b0fd5974bc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159</a:t>
            </a:fld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3b0fd5974b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3b0fd5974bc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g3b0fd5974bc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160</a:t>
            </a:fld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b0fd5974b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3b0fd5974bc_0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g3b0fd5974bc_0_2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161</a:t>
            </a:fld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b0fd5974b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3b0fd5974bc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g3b0fd5974bc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162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Заголовок и объект">
  <p:cSld name="1_Заголовок и объект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514350" y="1621190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1"/>
              <a:buFont typeface="Calibri"/>
              <a:buNone/>
              <a:defRPr sz="44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857250" y="5202945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None/>
              <a:defRPr sz="1497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1"/>
              <a:buFont typeface="Calibri"/>
              <a:buNone/>
              <a:defRPr sz="44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67916" y="6629227"/>
            <a:ext cx="5915025" cy="216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7"/>
              <a:buNone/>
              <a:defRPr sz="149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179"/>
              <a:buNone/>
              <a:defRPr sz="117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Два объекта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3471862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равнение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None/>
              <a:defRPr sz="1497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472381" y="3618443"/>
            <a:ext cx="2901255" cy="5322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4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14"/>
              <a:buNone/>
              <a:defRPr sz="1814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None/>
              <a:defRPr sz="1497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 b="1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4"/>
          </p:nvPr>
        </p:nvSpPr>
        <p:spPr>
          <a:xfrm>
            <a:off x="3471863" y="3618443"/>
            <a:ext cx="2915544" cy="5322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472380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4"/>
              <a:buFont typeface="Calibri"/>
              <a:buNone/>
              <a:defRPr sz="24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915544" y="1426283"/>
            <a:ext cx="3471862" cy="703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2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4"/>
              <a:buChar char="•"/>
              <a:defRPr sz="2404"/>
            </a:lvl1pPr>
            <a:lvl2pPr marL="914400" lvl="1" indent="-36112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87"/>
              <a:buChar char="•"/>
              <a:defRPr sz="2087"/>
            </a:lvl2pPr>
            <a:lvl3pPr marL="1371600" lvl="2" indent="-34378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14"/>
              <a:buChar char="•"/>
              <a:defRPr sz="1814"/>
            </a:lvl3pPr>
            <a:lvl4pPr marL="1828800" lvl="3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4pPr>
            <a:lvl5pPr marL="2286000" lvl="4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5pPr>
            <a:lvl6pPr marL="2743200" lvl="5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6pPr>
            <a:lvl7pPr marL="3200400" lvl="6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7pPr>
            <a:lvl8pPr marL="3657600" lvl="7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8pPr>
            <a:lvl9pPr marL="4114800" lvl="8" indent="-32365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Char char="•"/>
              <a:defRPr sz="1497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2"/>
          </p:nvPr>
        </p:nvSpPr>
        <p:spPr>
          <a:xfrm>
            <a:off x="472380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43"/>
              <a:buNone/>
              <a:defRPr sz="104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7"/>
              <a:buNone/>
              <a:defRPr sz="907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472380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4"/>
              <a:buFont typeface="Calibri"/>
              <a:buNone/>
              <a:defRPr sz="24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>
            <a:spLocks noGrp="1"/>
          </p:cNvSpPr>
          <p:nvPr>
            <p:ph type="pic" idx="2"/>
          </p:nvPr>
        </p:nvSpPr>
        <p:spPr>
          <a:xfrm>
            <a:off x="2915544" y="1426283"/>
            <a:ext cx="3471862" cy="703968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472380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79"/>
              <a:buNone/>
              <a:defRPr sz="1179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43"/>
              <a:buNone/>
              <a:defRPr sz="1043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7"/>
              <a:buNone/>
              <a:defRPr sz="907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71"/>
              <a:buNone/>
              <a:defRPr sz="771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вертикальный текст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11"/>
              <a:buFont typeface="Calibri"/>
              <a:buNone/>
              <a:defRPr sz="33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dt" idx="10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ftr" idx="11"/>
          </p:nvPr>
        </p:nvSpPr>
        <p:spPr>
          <a:xfrm>
            <a:off x="2271713" y="9181396"/>
            <a:ext cx="2314574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12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87"/>
              <a:buFont typeface="Arial"/>
              <a:buChar char="•"/>
              <a:defRPr sz="208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378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14"/>
              <a:buFont typeface="Arial"/>
              <a:buChar char="•"/>
              <a:defRPr sz="1814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2365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7"/>
              <a:buFont typeface="Arial"/>
              <a:buChar char="•"/>
              <a:defRPr sz="14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502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61"/>
              <a:buFont typeface="Arial"/>
              <a:buChar char="•"/>
              <a:defRPr sz="13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1"/>
          <p:cNvCxnSpPr/>
          <p:nvPr/>
        </p:nvCxnSpPr>
        <p:spPr>
          <a:xfrm rot="10800000">
            <a:off x="554797" y="581412"/>
            <a:ext cx="5985244" cy="0"/>
          </a:xfrm>
          <a:prstGeom prst="straightConnector1">
            <a:avLst/>
          </a:prstGeom>
          <a:noFill/>
          <a:ln w="28575" cap="flat" cmpd="sng">
            <a:solidFill>
              <a:srgbClr val="D2233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"/>
          <p:cNvSpPr/>
          <p:nvPr/>
        </p:nvSpPr>
        <p:spPr>
          <a:xfrm>
            <a:off x="352522" y="281192"/>
            <a:ext cx="136950" cy="330643"/>
          </a:xfrm>
          <a:prstGeom prst="rect">
            <a:avLst/>
          </a:prstGeom>
          <a:solidFill>
            <a:srgbClr val="D223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6044299" y="9525775"/>
            <a:ext cx="809317" cy="0"/>
          </a:xfrm>
          <a:prstGeom prst="straightConnector1">
            <a:avLst/>
          </a:prstGeom>
          <a:noFill/>
          <a:ln w="19050" cap="flat" cmpd="sng">
            <a:solidFill>
              <a:srgbClr val="D2233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1"/>
          <p:cNvSpPr txBox="1"/>
          <p:nvPr/>
        </p:nvSpPr>
        <p:spPr>
          <a:xfrm>
            <a:off x="4924036" y="9525778"/>
            <a:ext cx="1786674" cy="19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675" tIns="35325" rIns="70675" bIns="353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fld id="{00000000-1234-1234-1234-123412341234}" type="slidenum">
              <a:rPr lang="ru-RU" sz="127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7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oogle Shape;15;p1"/>
          <p:cNvGrpSpPr/>
          <p:nvPr/>
        </p:nvGrpSpPr>
        <p:grpSpPr>
          <a:xfrm>
            <a:off x="32202" y="9220960"/>
            <a:ext cx="2044168" cy="542329"/>
            <a:chOff x="35496" y="10100319"/>
            <a:chExt cx="1684015" cy="437461"/>
          </a:xfrm>
        </p:grpSpPr>
        <p:pic>
          <p:nvPicPr>
            <p:cNvPr id="16" name="Google Shape;16;p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35496" y="10100319"/>
              <a:ext cx="1331639" cy="4374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1312938" y="10246502"/>
              <a:ext cx="406573" cy="16514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" name="Google Shape;18;p1"/>
            <p:cNvCxnSpPr/>
            <p:nvPr/>
          </p:nvCxnSpPr>
          <p:spPr>
            <a:xfrm rot="10800000">
              <a:off x="1259632" y="10214546"/>
              <a:ext cx="0" cy="2069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" name="Google Shape;19;p1"/>
            <p:cNvSpPr/>
            <p:nvPr/>
          </p:nvSpPr>
          <p:spPr>
            <a:xfrm>
              <a:off x="35496" y="10119408"/>
              <a:ext cx="1224136" cy="3600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0" name="Google Shape;20;p1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388591" y="10214546"/>
              <a:ext cx="871042" cy="2290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thecode.media/yandex-ops/" TargetMode="External"/><Relationship Id="rId3" Type="http://schemas.openxmlformats.org/officeDocument/2006/relationships/hyperlink" Target="https://digitalskillsacademy.ru/" TargetMode="External"/><Relationship Id="rId7" Type="http://schemas.openxmlformats.org/officeDocument/2006/relationships/hyperlink" Target="https://sky.pro/wiki/profession/chto-takoe-poisk-informacii-i-zachem-on-nuzhen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" TargetMode="External"/><Relationship Id="rId11" Type="http://schemas.openxmlformats.org/officeDocument/2006/relationships/hyperlink" Target="https://www.youtube.com/c/%D0%A8%D0%BA%D0%BE%D0%BB%D0%B0%D0%9C%D0%B5%D0%BD%D0%B5%D0%B4%D0%B6%D0%B5%D1%80%D0%BE%D0%B2%D0%AF%D0%BD%D0%B4%D0%B5%D0%BA%D1%81%D0%B0" TargetMode="External"/><Relationship Id="rId5" Type="http://schemas.openxmlformats.org/officeDocument/2006/relationships/hyperlink" Target="https://netology.ru/programs/business-analytics-free" TargetMode="External"/><Relationship Id="rId10" Type="http://schemas.openxmlformats.org/officeDocument/2006/relationships/hyperlink" Target="https://habr.com/ru/articles/437618/" TargetMode="External"/><Relationship Id="rId4" Type="http://schemas.openxmlformats.org/officeDocument/2006/relationships/hyperlink" Target="https://rsv.ru/education/" TargetMode="External"/><Relationship Id="rId9" Type="http://schemas.openxmlformats.org/officeDocument/2006/relationships/hyperlink" Target="https://alpinabook.ru/catalog/book-novye-pravila-delovoy-perepiski/?srsltid=AfmBOoqfzkkd24vgIXLddY4au2QfGjMZ0RN95fSLFBs4qG-fxKhwNT9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box.ru/course/security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spersky.ru/blog/information-check-2022/32247/" TargetMode="External"/><Relationship Id="rId5" Type="http://schemas.openxmlformats.org/officeDocument/2006/relationships/hyperlink" Target="https://practicum.yandex.ru/" TargetMode="External"/><Relationship Id="rId4" Type="http://schemas.openxmlformats.org/officeDocument/2006/relationships/hyperlink" Target="https://sberuniversity.ru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s://skillfactory.ru/unit-economics" TargetMode="External"/><Relationship Id="rId13" Type="http://schemas.openxmlformats.org/officeDocument/2006/relationships/hyperlink" Target="https://productlab.ru/product_manager" TargetMode="External"/><Relationship Id="rId18" Type="http://schemas.openxmlformats.org/officeDocument/2006/relationships/hyperlink" Target="https://productlab.ru/search-ideas" TargetMode="External"/><Relationship Id="rId3" Type="http://schemas.openxmlformats.org/officeDocument/2006/relationships/hyperlink" Target="https://www.coursera.org/specializations/product-management" TargetMode="External"/><Relationship Id="rId7" Type="http://schemas.openxmlformats.org/officeDocument/2006/relationships/hyperlink" Target="https://skillfactory.ru/product-manager" TargetMode="External"/><Relationship Id="rId12" Type="http://schemas.openxmlformats.org/officeDocument/2006/relationships/hyperlink" Target="https://scrumtrek.ru/blog/agile-scrum/4029/metodologiya-agile/" TargetMode="External"/><Relationship Id="rId17" Type="http://schemas.openxmlformats.org/officeDocument/2006/relationships/hyperlink" Target="https://productlab.ru/agile" TargetMode="External"/><Relationship Id="rId2" Type="http://schemas.openxmlformats.org/officeDocument/2006/relationships/notesSlide" Target="../notesSlides/notesSlide56.xml"/><Relationship Id="rId16" Type="http://schemas.openxmlformats.org/officeDocument/2006/relationships/hyperlink" Target="https://productlab.ru/okr" TargetMode="External"/><Relationship Id="rId20" Type="http://schemas.openxmlformats.org/officeDocument/2006/relationships/hyperlink" Target="https://productlab.ru/product-laun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forge.com/products/product-management" TargetMode="External"/><Relationship Id="rId11" Type="http://schemas.openxmlformats.org/officeDocument/2006/relationships/hyperlink" Target="https://gopractice.ru/" TargetMode="External"/><Relationship Id="rId5" Type="http://schemas.openxmlformats.org/officeDocument/2006/relationships/hyperlink" Target="https://krokit.org/courses/product/" TargetMode="External"/><Relationship Id="rId15" Type="http://schemas.openxmlformats.org/officeDocument/2006/relationships/hyperlink" Target="https://productlab.ru/ai-analytics-product" TargetMode="External"/><Relationship Id="rId10" Type="http://schemas.openxmlformats.org/officeDocument/2006/relationships/hyperlink" Target="https://practicum.yandex.ru/product-manager/" TargetMode="External"/><Relationship Id="rId19" Type="http://schemas.openxmlformats.org/officeDocument/2006/relationships/hyperlink" Target="https://productlab.ru/product-research" TargetMode="External"/><Relationship Id="rId4" Type="http://schemas.openxmlformats.org/officeDocument/2006/relationships/hyperlink" Target="https://gopractice.ru/course/pm/" TargetMode="External"/><Relationship Id="rId9" Type="http://schemas.openxmlformats.org/officeDocument/2006/relationships/hyperlink" Target="https://netology.ru/programs/product-metrics" TargetMode="External"/><Relationship Id="rId14" Type="http://schemas.openxmlformats.org/officeDocument/2006/relationships/hyperlink" Target="https://productlab.ru/laboratory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pmn.org/" TargetMode="External"/><Relationship Id="rId3" Type="http://schemas.openxmlformats.org/officeDocument/2006/relationships/hyperlink" Target="https://skillfactory.ru/business-processes" TargetMode="External"/><Relationship Id="rId7" Type="http://schemas.openxmlformats.org/officeDocument/2006/relationships/hyperlink" Target="https://practicum.yandex.ru/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tology.ru/programs/business_process_manager" TargetMode="External"/><Relationship Id="rId5" Type="http://schemas.openxmlformats.org/officeDocument/2006/relationships/hyperlink" Target="https://netology.ru/programs/business-analytics-online" TargetMode="External"/><Relationship Id="rId4" Type="http://schemas.openxmlformats.org/officeDocument/2006/relationships/hyperlink" Target="https://hse.ru/edu/dpo/898841647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hyperlink" Target="https://skillfactory.ru/statistics" TargetMode="External"/><Relationship Id="rId13" Type="http://schemas.openxmlformats.org/officeDocument/2006/relationships/hyperlink" Target="https://netology.ru/programs/bi-analytics" TargetMode="External"/><Relationship Id="rId18" Type="http://schemas.openxmlformats.org/officeDocument/2006/relationships/hyperlink" Target="https://www.mann-ivanov-ferber.ru/catalog/product/026/?srsltid=AfmBOooe4bUNDxJagjASlRdIoEDFHIF9f1WID6JOIdV-071oz_QzpgFq" TargetMode="External"/><Relationship Id="rId3" Type="http://schemas.openxmlformats.org/officeDocument/2006/relationships/hyperlink" Target="https://www.coursera.org/learn/analytics" TargetMode="External"/><Relationship Id="rId21" Type="http://schemas.openxmlformats.org/officeDocument/2006/relationships/hyperlink" Target="https://practicum.yandex.ru/blog/vizualizaciya-dannyh/" TargetMode="External"/><Relationship Id="rId7" Type="http://schemas.openxmlformats.org/officeDocument/2006/relationships/hyperlink" Target="https://skillfactory.ru/analytics" TargetMode="External"/><Relationship Id="rId12" Type="http://schemas.openxmlformats.org/officeDocument/2006/relationships/hyperlink" Target="https://www.udemy.com/course/advanced-excel/" TargetMode="External"/><Relationship Id="rId17" Type="http://schemas.openxmlformats.org/officeDocument/2006/relationships/hyperlink" Target="https://practicum.yandex.ru/ab-testing/" TargetMode="External"/><Relationship Id="rId2" Type="http://schemas.openxmlformats.org/officeDocument/2006/relationships/notesSlide" Target="../notesSlides/notesSlide78.xml"/><Relationship Id="rId16" Type="http://schemas.openxmlformats.org/officeDocument/2006/relationships/hyperlink" Target="https://practicum.yandex.ru/product-analytics/" TargetMode="External"/><Relationship Id="rId20" Type="http://schemas.openxmlformats.org/officeDocument/2006/relationships/hyperlink" Target="https://www.mann-ivanov-ferber.ru/catalog/product/infografika/?srsltid=AfmBOormG5KU5UG6YObgZkVnJ7elTGKI_h_xq0FOMARwLFYICIBcxQS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ekbrains.ru/courses/data_science_basics" TargetMode="External"/><Relationship Id="rId11" Type="http://schemas.openxmlformats.org/officeDocument/2006/relationships/hyperlink" Target="https://stepik.org/course/324/" TargetMode="External"/><Relationship Id="rId5" Type="http://schemas.openxmlformats.org/officeDocument/2006/relationships/hyperlink" Target="https://digitalskillsacademy.ru/sql" TargetMode="External"/><Relationship Id="rId15" Type="http://schemas.openxmlformats.org/officeDocument/2006/relationships/hyperlink" Target="https://netology.ru/programs/analytics" TargetMode="External"/><Relationship Id="rId10" Type="http://schemas.openxmlformats.org/officeDocument/2006/relationships/hyperlink" Target="https://skillbox.ru/course/analytics/" TargetMode="External"/><Relationship Id="rId19" Type="http://schemas.openxmlformats.org/officeDocument/2006/relationships/hyperlink" Target="https://kaiten.ru/blog/vidy-diaghramm/" TargetMode="External"/><Relationship Id="rId4" Type="http://schemas.openxmlformats.org/officeDocument/2006/relationships/hyperlink" Target="https://www.coursera.org/learn/sql-for-data-analysis" TargetMode="External"/><Relationship Id="rId9" Type="http://schemas.openxmlformats.org/officeDocument/2006/relationships/hyperlink" Target="https://skillbox.ru/course/python-analytics/" TargetMode="External"/><Relationship Id="rId14" Type="http://schemas.openxmlformats.org/officeDocument/2006/relationships/hyperlink" Target="https://netology.ru/programs/excel-advanced" TargetMode="External"/><Relationship Id="rId22" Type="http://schemas.openxmlformats.org/officeDocument/2006/relationships/hyperlink" Target="https://karpov.courses/simulator-sql#!/tab/469016097-2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827546/" TargetMode="External"/><Relationship Id="rId3" Type="http://schemas.openxmlformats.org/officeDocument/2006/relationships/hyperlink" Target="https://skillbox.ru/course/rpa-uipath/" TargetMode="External"/><Relationship Id="rId7" Type="http://schemas.openxmlformats.org/officeDocument/2006/relationships/hyperlink" Target="https://practicum.yandex.ru/blog/kak-pravilno-pisat-promty-dlya-neyroseti/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articles/710350/" TargetMode="External"/><Relationship Id="rId5" Type="http://schemas.openxmlformats.org/officeDocument/2006/relationships/hyperlink" Target="https://docs.primo-rpa.ru/" TargetMode="External"/><Relationship Id="rId4" Type="http://schemas.openxmlformats.org/officeDocument/2006/relationships/hyperlink" Target="https://netology.ru/programs/rpa" TargetMode="External"/><Relationship Id="rId9" Type="http://schemas.openxmlformats.org/officeDocument/2006/relationships/hyperlink" Target="https://www.kaspersky.ru/resource-center/preemptive-safety/chatbots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box.ru/course/microservices-architecture/" TargetMode="External"/><Relationship Id="rId7" Type="http://schemas.openxmlformats.org/officeDocument/2006/relationships/hyperlink" Target="https://book4cio.ru" TargetMode="External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ok4cio.ru/" TargetMode="External"/><Relationship Id="rId5" Type="http://schemas.openxmlformats.org/officeDocument/2006/relationships/hyperlink" Target="https://practicum.yandex.ru/" TargetMode="External"/><Relationship Id="rId4" Type="http://schemas.openxmlformats.org/officeDocument/2006/relationships/hyperlink" Target="https://hse.ru/edu/dpo/898841647" TargetMode="Externa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4cdto.ru/" TargetMode="Externa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kolkovo.ru/programmes/cdto/" TargetMode="External"/><Relationship Id="rId5" Type="http://schemas.openxmlformats.org/officeDocument/2006/relationships/hyperlink" Target="https://profitcon.ru/events/seminars/" TargetMode="External"/><Relationship Id="rId4" Type="http://schemas.openxmlformats.org/officeDocument/2006/relationships/hyperlink" Target="https://openedu.ru/course/spbu/DIGBUS/" TargetMode="Externa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ml" TargetMode="External"/><Relationship Id="rId7" Type="http://schemas.openxmlformats.org/officeDocument/2006/relationships/hyperlink" Target="https://www.youtube.com/c/%D0%A8%D0%BA%D0%BE%D0%BB%D0%B0%D0%9C%D0%B5%D0%BD%D0%B5%D0%B4%D0%B6%D0%B5%D1%80%D0%BE%D0%B2%D0%AF%D0%BD%D0%B4%D0%B5%D0%BA%D1%81%D0%B0" TargetMode="External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playlist?list=PLZHQObOWTQDNU6R1_67000Dx_LFRD5VJc" TargetMode="External"/><Relationship Id="rId5" Type="http://schemas.openxmlformats.org/officeDocument/2006/relationships/hyperlink" Target="https://www.coursera.org/learn/machine-learning" TargetMode="External"/><Relationship Id="rId4" Type="http://schemas.openxmlformats.org/officeDocument/2006/relationships/hyperlink" Target="https://www.deeplearningbook.org/" TargetMode="Externa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409900" y="3701150"/>
            <a:ext cx="6279000" cy="15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650" tIns="45700" rIns="6465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МЕНЮ РАЗВИВАЮЩИХ ДЕЙСТВИЙ ПО </a:t>
            </a:r>
            <a:r>
              <a:rPr lang="ru-RU" sz="3000" b="1" i="0" u="none" strike="noStrike" cap="none" dirty="0" smtClean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ЦИФРОВЫМ </a:t>
            </a: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КОМПЕТЕНЦИЯМ ШЦР</a:t>
            </a:r>
            <a:endParaRPr sz="3000" b="1" i="0" u="none" strike="noStrike" cap="none" dirty="0">
              <a:solidFill>
                <a:srgbClr val="B2B3B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2</a:t>
            </a:fld>
            <a:endParaRPr sz="1452" dirty="0">
              <a:solidFill>
                <a:srgbClr val="000000"/>
              </a:solidFill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340174" y="1519600"/>
          <a:ext cx="6159075" cy="657922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Руководство по использованию меню развивающих действий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Цель меню развивающих действий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Из чего состоит меню развивающих действий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Как пользоваться меню развивающих действий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цифровой культуры, базовых ИКТ-навыков </a:t>
                      </a:r>
                      <a:b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 ответственного поведения в цифровой среде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Базовые цифровые компетенции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1.1. Использование цифровых ресурсов и корпоративных сервисов для решения рабочих задач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 Навыки поиска, обработки и структурирования информации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Создание и использование цифрового контента</a:t>
                      </a:r>
                      <a:endParaRPr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Работа с инженерными и производственными данными</a:t>
                      </a:r>
                      <a:endParaRPr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производственных и сенсорных данных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ПАИ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АСОДУ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Соблюдение правил цифровой гигиены и безопасного поведения</a:t>
                      </a: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1.7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Участие в цифровых инициативах и улучшениях</a:t>
                      </a: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3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340174" y="1214800"/>
          <a:ext cx="6159075" cy="692005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1.8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Открытость к обучению новым инструментам и методам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Менторство и поддержка цифровой грамотности коллег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37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1.10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Взаимодействие в кросс-функциональных цифровых командах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40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Информационная безопасность и импорто- независимость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Знание принципов и требований информационной безопасности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44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Осознанное обращение с данными и корпоративными системами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Навык оценки рисков использования внешних сервисов и технологий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Соблюдение политики защиты информации и персональных данных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Развитие предпринимательского, продуктового и процессного мышления. Ориентация на эффект и улучшения:</a:t>
                      </a:r>
                      <a:endParaRPr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55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  Продуктовое и предпринимательское мышление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4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20" name="Google Shape;120;p18"/>
          <p:cNvGraphicFramePr/>
          <p:nvPr/>
        </p:nvGraphicFramePr>
        <p:xfrm>
          <a:off x="340174" y="1214800"/>
          <a:ext cx="6159075" cy="693763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Определение проблемы и эффекта в терминах экономического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результата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Постановка и проверка гипотез короткими итерациями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формулирование цифровых идей на основе пользовательских и производственных инсайтов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63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 и приоритизация инициатив по эффекту и трудозатратам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Процессное и системное мышление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Видение сквозных процессов и взаимосвязей между функциями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4.2 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Определение узких мест и потерь в процессах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Построение схем и моделей процессов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BPMN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SIPOC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и др.)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Развитие культуры и владения инструментами анализа и цифровизации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Работа с данными и аналитикой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rgbClr val="FF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5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340174" y="1443400"/>
          <a:ext cx="6159075" cy="6268885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Аналитическое мышление и принятие решений на основе данных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источников данных и их структуры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Описание требований к данным и постановка запросов на выгрузки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84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Проверка качества и достоверности данных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Интерпретация аналитики для принятия решений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Самостоятельное использование инструментов автоматизации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EXCEL/VBA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VISIOLOGY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Форсайт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и др.)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Инструментальные навыки цифрового сотрудника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Владение технологией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RPA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Владение технологией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BPM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Интеграция цифровых инструментов между собой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→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RPA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→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BPM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→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ERP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98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358755" y="380295"/>
            <a:ext cx="6419100" cy="39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6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340174" y="9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Создание и тестирование простых цифровых решений (low-code / no-code)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Взаимодействие с цифровыми ассистентами и ии-сервисами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архитектурного и стратегического взгляда на цифровую экосистему компании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104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Технологическая грамотность и архитектура ИС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Навык безопасной интеграции бизнес-инструментов и технологий в корпоративный контур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принципов работы ключевых цифровых систем компании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108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архитектуры интеграций и движения данных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API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шины, мастер-данные)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Формулирование требований и контроль задач для ит-подразделения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 применимости технологий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RPA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VR/AR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цифровых двойников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Цифровая архитектура и интеграция систем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358755" y="380295"/>
            <a:ext cx="6419150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7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41" name="Google Shape;141;p21"/>
          <p:cNvGraphicFramePr/>
          <p:nvPr/>
        </p:nvGraphicFramePr>
        <p:xfrm>
          <a:off x="340174" y="144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корпоративной цифровой архитектуры (целевое видение ит-экосистемы)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дублирования и фрагментации цифровых решений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Понимание архитектурных ограничений и технического долга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121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Управление цифровыми инициативами</a:t>
                      </a:r>
                      <a:endParaRPr sz="14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Инициирование и обоснование цифровых инициатив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Описание процессов as-is для подготовки цифровых решений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Ориентация на результат в рамках функции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128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Оптимизация процессов и гибкое внедрение изменений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Управление проектами цифровой трансформации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132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358755" y="380295"/>
            <a:ext cx="6419100" cy="39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8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48" name="Google Shape;148;p22"/>
          <p:cNvGraphicFramePr/>
          <p:nvPr/>
        </p:nvGraphicFramePr>
        <p:xfrm>
          <a:off x="340174" y="15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9.6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Формирование архитектурной и функциональной целостности цифрового решения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9.7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Управление подрядчиками и контроль реализации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136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9.8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Юридическая грамотность при работе с подрядчиками </a:t>
                      </a:r>
                      <a:b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(лицензии,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SLA, TCO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138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9.9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Приемка цифровых решений и тестирование (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UAT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140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9.10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Коммуникация смысла и эффектов цифровых инициатив и трансформации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Развитие инженерно-аналитических компетенций, основанных на работе с данными, моделями и прогнозированием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Инженерная аналитика и моделирование на данных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Список ресурсов для развития компетенций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10.1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Применение методов машинного обучения и предиктивной аналитики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358755" y="380295"/>
            <a:ext cx="6419100" cy="39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fld id="{00000000-1234-1234-1234-123412341234}" type="slidenum">
              <a:rPr lang="ru-RU" sz="1452">
                <a:solidFill>
                  <a:srgbClr val="000000"/>
                </a:solidFill>
              </a:rPr>
              <a:t>9</a:t>
            </a:fld>
            <a:endParaRPr sz="1452">
              <a:solidFill>
                <a:srgbClr val="000000"/>
              </a:solidFill>
            </a:endParaRPr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340174" y="1138600"/>
          <a:ext cx="6159075" cy="3208910"/>
        </p:xfrm>
        <a:graphic>
          <a:graphicData uri="http://schemas.openxmlformats.org/drawingml/2006/table">
            <a:tbl>
              <a:tblPr>
                <a:noFill/>
                <a:tableStyleId>{AA485686-D4D2-4F7A-8227-E6D9CD88DBFD}</a:tableStyleId>
              </a:tblPr>
              <a:tblGrid>
                <a:gridCol w="51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10.2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Формализация процессов в виде математических моделей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10.3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Прикладной кодинг (Python, SQL)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10.4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Применение предиктивной аналитики к оборудованию и производственным рискам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15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10.5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Моделирование альтернативных сценариев и расч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е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 чувствительности</a:t>
                      </a:r>
                      <a:endParaRPr sz="14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400" u="none" strike="noStrike" cap="none"/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Словарь терминов и сокращений</a:t>
                      </a:r>
                      <a:endParaRPr sz="1700" b="1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None/>
                      </a:pPr>
                      <a:r>
                        <a:rPr lang="ru-RU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стр. </a:t>
                      </a:r>
                      <a:r>
                        <a:rPr lang="ru-RU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155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0" marR="6850" marT="41475" marB="41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1A9D3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347025" y="1895903"/>
            <a:ext cx="6064500" cy="31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Меню развивающих действий предназначено для того, чтобы помочь сотрудникам </a:t>
            </a: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Группы компаний 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АО «Зарубежнефть» развивать цифровые компетенции, необходимые для эффективной работы в условиях цифровой трансформации.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 позволяет сотруднику: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выбрать подходящие развивающие действия, которые помогут перейти на следующий уровень развития цифровых компетенций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включить выбранные действия в Индивидуальную программу развития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ускоряет цифровую зрелость подразделений и компании в целом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обеспечивает единый подход к развитию цифровых компетенций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1909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усиливает вовлеченность сотрудников в цифровые инициативы; </a:t>
            </a:r>
            <a:endParaRPr sz="997" strike="sng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Меню развивающих действий является дополнением к </a:t>
            </a: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Модели цифровых компетенций 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 содержит конкретные рекомендации по обучению, практике, участию в проектах и применению цифровых инструментов.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326287" y="1454456"/>
            <a:ext cx="63123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ЦЕЛЬ МЕНЮ РАЗВИВАЮЩИХ ДЕЙСТВИЙ</a:t>
            </a:r>
            <a:endParaRPr sz="1814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347025" y="2137522"/>
            <a:ext cx="6064500" cy="6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Меню включает: 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 </a:t>
            </a: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Перечень цифровых компетенций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о</a:t>
            </a:r>
            <a:r>
              <a:rPr lang="ru-RU" sz="997" dirty="0">
                <a:latin typeface="Montserrat"/>
                <a:ea typeface="Montserrat"/>
                <a:cs typeface="Montserrat"/>
                <a:sym typeface="Montserrat"/>
              </a:rPr>
              <a:t>бъединенных в тематические блоки (Базовые цифровые компетенции, Информационная безопасность и импортонезависимость, Продуктовое и предпринимательское мышление, Процессное и системное мышление, Работа с данными и аналитикой, Инструментальные навыки цифрового сотрудника, Технологическая грамотность и архитектура ИС, Управление цифровыми инициативами, Цифровая архитектура и интеграция систем, Инженерная аналитика и моделирование на данных).</a:t>
            </a:r>
            <a:endParaRPr sz="1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  </a:t>
            </a: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Шкалу уровней развития цифровой компетенции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ru-RU" sz="997" dirty="0">
                <a:latin typeface="Montserrat"/>
                <a:ea typeface="Montserrat"/>
                <a:cs typeface="Montserrat"/>
                <a:sym typeface="Montserrat"/>
              </a:rPr>
              <a:t>1–5 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баллов): 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Низкий уровень развития (начальный)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развития ниже среднего (базовый)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уровень развития (стандартный)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Высокий уровень развития (экспертный)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— 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Исключительно высокий уровень развития (уровень мастерства)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dirty="0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Набор развивающих действий,</a:t>
            </a: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997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привязанных к индикаторам компетенций и помогающих сотруднику перейти на следующий уровень. </a:t>
            </a:r>
            <a:endParaRPr sz="997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Развивающие действия включают разные форматы: практические программы, мастер-классы, обучающие курсы, участие в цифровых инициативах, работу с данными, взаимодействие с ИТ, обмен опытом и др.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326277" y="1373500"/>
            <a:ext cx="50331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ИЗ ЧЕГО СОСТОИТ МЕНЮ РАЗВИВАЮЩИХ ДЕЙСТВИЙ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347025" y="2137525"/>
            <a:ext cx="6064500" cy="6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Шаг 1. Определите компетенцию, требующую развития </a:t>
            </a:r>
            <a:endParaRPr sz="997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Основаниями могут быть:</a:t>
            </a: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 оценки цифровых компетенций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 руководителя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требования текущей или целевой роли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для решения рабочих задач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 b="0" i="0" u="none" strike="sng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97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Шаг 2. Определите свой текущий уровень владения компетенцией</a:t>
            </a:r>
            <a:endParaRPr sz="997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Используйте Шкалу оценки цифровых компетенций (5-бальная):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— Начальный уровень: сотрудник действует фрагментарно, допускает частые ошибки.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— Базовый уровень: применяет компетенцию по инструкции, но нестабильно.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— Стандартный уровень: уверенно работает в типовых ситуациях.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— Экспертный уровень: может улучшать процессы, консультирует коллег. 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— Уровень мастерства: формирует практики, обучает, вед</a:t>
            </a:r>
            <a:r>
              <a:rPr lang="ru-RU" sz="99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</a:t>
            </a:r>
            <a:r>
              <a:rPr lang="ru-RU" sz="997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 сложные инициативы.</a:t>
            </a:r>
            <a:endParaRPr sz="997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sng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326277" y="1373500"/>
            <a:ext cx="50331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КАК ПОЛЬЗОВАТЬСЯ МЕНЮ РАЗВИВАЮЩИХ ДЕЙСТВИЙ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347025" y="1374497"/>
            <a:ext cx="6064500" cy="6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Шаг 3. Выберите развивающие действия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каждой компетенции предложены действия, которые соответствуют е</a:t>
            </a: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е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индикаторам и поддерживают развитие с одного уровня на следующий.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Действия разделяются на типы: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70% — обучение на практике: участие в инициативах, пилотах, работах с данными, проектных командах. 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20% — обучение у других: менторинг, shadowing, обмен опытом, внутренние практики. 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10% — теоретическое обучение: онлайн-курсы, тренинги, чтение материалов, участие в семинарах.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Сотрудник выбирает те действия, которые доступны и релевантны его рабочим задачам.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97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Шаг 4. Внесите выбранные действия в Индивидуальную программу развития</a:t>
            </a:r>
            <a:endParaRPr sz="997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Теоретические мероприятия из раздела 10% вносятся напрямую.</a:t>
            </a: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Действия из разделов 20% и 70% переводятся в формат конкретных задач и результатов (SMART). </a:t>
            </a: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развития согласуется с руководителем для подтверждения приоритетов и возможности участия в выбранных программах обучения.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322480" y="3776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95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ПО ИСПОЛЬЗОВАНИЮ МЕНЮ РАЗВИВАЮЩИХ ДЕЙСТВИЙ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445650" y="2999982"/>
            <a:ext cx="5966700" cy="29478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ЦИФРОВОЙ КУЛЬТУРЫ, БАЗОВЫХ ИКТ-НАВЫКОВ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ОТВЕТСТВЕННОГО ПОВЕДЕНИЯ В ЦИФРОВОЙ СРЕДЕ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/>
        </p:nvSpPr>
        <p:spPr>
          <a:xfrm>
            <a:off x="517600" y="704850"/>
            <a:ext cx="5550900" cy="79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БАЗОВЫЕ ЦИФРОВЫЕ КОМПЕТЕНЦИИ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Азбука системного мышления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Пятая дисциплина. Искусство и практика обучающейся организации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Цель. Процесс непрерывного совершенствования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Digital Skills Academy: Office 365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https://digitalskillsacademy.ru/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VK Education: Продакт-менеджмент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https://rsv.ru/education/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Основы анализа данных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https://netology.ru/programs/business-analytics-free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Habr: Статьи по цифровой культуре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https://habr.com/ru/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Мастерство поиска информации: от простых запросов к стратегиям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https://sky.pro/wiki/profession/chto-takoe-poisk-informacii-i-zachem-on-nuzhen/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Ищем в Яндексе правильно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https://thecode.media/yandex-ops/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Новые правила деловой переписки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https://alpinabook.ru/catalog/book-novye-pravila-delovoy-perepiski/?srsltid=AfmBOoqfzkkd24vgIXLddY4au2QfGjMZ0RN95fSLFBs4qG-fxKhwNT9i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42 оператора расширенного поиска Google (полный список)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https://habr.com/ru/articles/437618/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YouTube видео — YouTube: Школа менеджеров Яндекса —</a:t>
            </a:r>
            <a:r>
              <a:rPr lang="ru-RU" sz="10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 </a:t>
            </a:r>
            <a:r>
              <a:rPr lang="ru-RU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https://www.youtube.com/c/%D0%A8%D0%BA%D0%BE%D0%BB%D0%B0%D0%9C%D0%B5%D0%BD%D0%B5%D0%B4%D0%B6%D0%B5%D1%80%D0%BE%D0%B2%D0%AF%D0%BD%D0%B4%D0%B5%D0%BA%D1%81%D0%B0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799139" y="1751960"/>
            <a:ext cx="49024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ЦИФРОВЫХ РЕСУРСОВ И КОРПОРАТИВНЫХ СЕРВИСОВ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РЕШЕНИЯ РАБОЧИХ ЗАДАЧ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Проходить внутренние обучающие курсы по использованию ключевых корпоративных приложений (Outlook, 1С, Vinteo, Express, WebTutor, корпоративный портал и др.) для повышения личной эффективности.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изучать инструкции, руководства и справочные материалы по корпоративным сервисам, а также проходить внешние онлайн‑курсы по цифровой грамотности и офисным программам.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материалы внешних образовательных программ по теме применения цифровых ресурсов и корпоративных систем в работе.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372424" y="48042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Оказывать коллегам консультационную поддержку по вопросам использования корпоративных сервисов, выступая внутренним экспертом по цифровым инструментам.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пилотных внедрениях новых корпоративных систем, тестировать функциональность и предоставлять структурированную обратную связь профильным подразделениям.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Принимать на себя задачи, требующие регулярного применения цифровых инструментов (например, ведение разделов корпоративного портала, организация взаимодействия через видеосвязь), демонстрируя их практическое использование.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собственное цифровое рабочее пространство (шаблоны, фильтры, правила обработки почты и задач) и тиражировать эффективные настройки и подходы в команде.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351687" y="42817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367750" y="8062598"/>
            <a:ext cx="6064200" cy="1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базовые функции ключевых корпоративных систем (Outlook, корпоративный портал, 1С), выполняя стандартные операции (отправка письма, поиск и открытие документа).</a:t>
            </a: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347024" y="7540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ЦИФРОВЫХ РЕСУРСОВ И КОРПОРАТИВНЫХ СЕРВИСОВ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РЕШЕНИЯ РАБОЧИХ ЗАДАЧ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3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1"/>
          <p:cNvSpPr/>
          <p:nvPr/>
        </p:nvSpPr>
        <p:spPr>
          <a:xfrm>
            <a:off x="347024" y="2276909"/>
            <a:ext cx="6064351" cy="530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практические задания по поиску информации на корпоративном портале и работе с электронной почтой (включая вложения и шаблоны).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подготовить документ по установленному шаблону и корректно разместить его в корпоративной системе.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типовые операции в 1С в соответствии с регламентом (например, регистрация заявки или документа).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выполнять рабочие задачи с использованием основных корпоративных сервисов, соблюдая установленные стандарты работы с системами.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собственные цифровые процессы (почта, календарь, задачи, файлы) с помощью шаблонов, фильтров, уведомлений и других настроек.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перечень наиболее востребованных функций и настроек и использовать его в работе и обмене опытом с коллегами.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краткое руководство, чек‑лист или видеоинструкцию по использованию одного из корпоративных сервисов для решения типовых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и провести практическую сессию (мини‑воркшоп) по использованию цифровых ресурсов для коллег своей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Оказывать методическую поддержку коллегам в адаптации цифровых инструментов под их рабочие процессы.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ЦИФРОВЫХ РЕСУРСОВ И КОРПОРАТИВНЫХ СЕРВИСОВ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РЕШЕНИЯ РАБОЧИХ ЗАДАЧ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реализовывать улучшения в использовании цифровых инструментов и интерфейсов, влияющие на эффективность процессов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практики эффективного использования корпоративных сервисов на сессиях обмена опытом или внутренних методических мероприятиях.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и продвигать предложения по системной оптимизации цифрового рабочего пространства подразделения (шаблоны, стандарты, подходы).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НАВЫКИ ПОИСКА, ОБРАБОТКИ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СТРУКТУРИРОВАНИЯ ИНФОРМАЦИИ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методы эффективного поиска и критической оценки информации, включая использование расширенных возможностей корпоративных систем и офисных приложений (фильтры, сводные таблицы, инструменты анализа).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принципы организации корпоративных информационных баз и системы управления знаниями, участвовать во внутренних мероприятиях по обмену практиками работы с информацией.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внешние образовательные программы и профессиональные материалы по теме поиска, обработки и структурирования информации.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72424" y="43216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разработке или улучшению структуры корпоративного хранилища знаний (каталоги, метки, правила актуализации).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делиться с командой релевантными источниками информации и инструментами для поиска, анализа и визуализации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задания по сбору, анализу и синтезу информации для руководства или коллег, применяя продвинутые операции поиска и фильтрации.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Структурировать существующие массивы данных и документов подразделения в логичную и удобную для использования систему.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351687" y="3799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367761" y="691960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Находить и сохранять необходимые файлы на общих ресурсах, используя базовые параметры поиска (название, дата, тип).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базовые операторы и возможности поиска в ключевых корпоративных системах.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практическое задание по поиску регламентов, шаблонов и других нормативных документов на корпоративном портале.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347024" y="6397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347025" y="1270000"/>
            <a:ext cx="6064500" cy="70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расширенные параметры поиска в корпоративных системах (ключевые слова, фильтры, логические операторы) для решения рабочих задач.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находить, анализировать и отбирать релевантную информацию из нескольких источников для подготовки рабочих материалов.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базовые инструменты структурирования информации (таблицы, списки, простые классификаторы) в повседневной работе.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Системно обрабатывать большие массивы информации и документов, выстраивая логичную структуру хранения и навигации.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продвинутые инструменты анализа и обработки информации (сводные таблицы, фильтрация, группировка, визуализация).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аналитические подборки и обзоры информации для принятия управленческих решений.</a:t>
            </a:r>
            <a:endParaRPr sz="997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и внедрять единые подходы к структурированию данных и документов в подразделении или проекте.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и применять сложные сценарии поиска, обработки и анализа информации в корпоративных системах и офисных инструментах.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экспертом по вопросам поиска, обработки и структурирования информации для коллег и команд.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99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97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и развивать лучшие практики работы с информацией на уровне функционального направления или компании.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и руководителей по вопросам эффективного поиска, анализа и структурирования информации и данных.</a:t>
            </a:r>
            <a:b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o"/>
            </a:pPr>
            <a:r>
              <a:rPr lang="ru-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внедрении корпоративных стандартов и методологий управления знаниями и информацией.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322480" y="377609"/>
            <a:ext cx="5966700" cy="695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НАВЫКИ ПОИСКА, ОБРАБОТКИ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СТРУКТУРИРОВАНИЯ ИНФОРМАЦИИ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ИСПОЛЬЗОВАНИЕ ЦИФРОВОГО КОНТЕНТА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качественных презентаций, отчетов и других цифровых материалов (внутренних и внешних), выделяя особенности структуры, визуального оформления и акцентирования ключевых сообщений.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Тестировать и применять выявленные приемы в собственной практике подготовки цифрового контента, корректируя подход с учетом обратной связи.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372424" y="3673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внутренних мероприятиях (совещаниях, семинарах, сессиях), требующих подготовки цифрового контента (презентаций, аналитических материалов, отчетов).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брать на себя подготовку отчетов, презентаций и других материалов, обеспечивая их соответствие корпоративным стандартам.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поддерживать единые шаблоны презентаций и отчетных документов для команды или подразделения.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367761" y="592900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текстовые документы по утвержденным шаблонам (служебные записки, пояснительные записки и т.п.), соблюдая требования к структуре и оформлению.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базовые принципы визуального оформления текста и объектов (иерархия заголовков, читаемость, единый стиль).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Приводить документы в соответствие с корпоративными стандартами форматирования.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347024" y="54065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ИСПОЛЬЗОВАНИЕ ЦИФРОВОГО КОНТЕНТА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347024" y="1895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краткую презентацию (например, 5–7 слайдов) по тематике подразделения с использованием фирменного шаблона и единого визуального стиля.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Передавать материалы на предварительный просмотр, своевременно вносить корректировки по комментариям.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таблицы и другие элементы визуализации данных в соответствии с установленными требованиями.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презентации с использованием базовых элементов инфографики и логики повествования (структура «проблема–анализ–решение–эффект» и др.).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отображения и работоспособности материалов в различных форматах (например, PDF, PPT, загрузка в системы).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Подготавливать и обновлять визуальные шаблоны для команды с учетом обратной связи и корпоративных стандартов.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Внедрять согласованные визуальные стандарты подготовки цифровых материалов в команде или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специализированные шаблоны презентаций и отчетов для типовых задач (отчетность, защита проектов, аналитические обзоры).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обучающие мини‑сессии для коллег по структуре, содержанию и визуальному оформлению эффективного контента.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визуальные шаблоны и форматы материалов в используемых цифровых системах (при наличии такой функциональности).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ИСПОЛЬЗОВАНИЕ ЦИФРОВОГО КОНТЕНТА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инициативы или проекты по развитию визуального стиля и стандартов цифрового контента в команде или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подготовку ключевых цифровых материалов (отчетов, презентаций, обзоров) на уровне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созданию сложного цифрового контента (аналитические отчеты, презентации для внешних и внутренних стейкхолдеров).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и поддерживать библиотеку лучших материалов и шаблонов, обеспечивать ее доступность и актуальность.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ИНЖЕНЕРНЫМИ И ПРОИЗВОДСТВЕННЫМИ ДАННЫМИ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основы работы с системами автоматизации и сбора производственных данных (АСУ ТП, SCADA), включая чтение графиков, отчетов и структур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техническую документацию на оборудование и датчики, применяемые на производстве, с фокусом на контролируемые параметры и допустимые диапазоны.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практическими кейсами и материалами по интерпретации сигналов оборудования и выявлению отклонений, перенимая логики анализа.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372424" y="40041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совещаниях и рабочих обсуждениях производственных показателей, вносить предложения на основе анализа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Принимать ответственность за мониторинг отдельных показателей оборудования или участков процесса в рамках своей зоны деятельности.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анализ исторических данных датчиков за заданный период, выявлять закономерности и сопоставлять их с ключевыми событийными точками (ремонты, остановки, изменения режимов).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351687" y="3481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367761" y="62592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вводный курс по основам цифровых компетенций и работе с производственными параметрами, закрепив понимание базовых показателей.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задания по сопоставлению параметров оборудования с их физическим смыслом и влиянием на процесс.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347024" y="57367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ИНЖЕНЕРНЫМИ И ПРОИЗВОДСТВЕННЫМИ ДАННЫМИ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347024" y="1895909"/>
            <a:ext cx="6064351" cy="745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практические действия по снятию, выгрузке и первичной обработке данных с контроллеров и датчиков.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графики ключевых параметров в табличном редакторе и провести базовый анализ трендов (рост, падение, стабильность).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разборе отклонений совместно с технологами или аналитиками, фиксируя логику анализа.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строить и интерпретировать графики по производственным данным, выделять значимые отклонения.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Сопоставлять выявленные отклонения с событиями на установке или в технологическом процессе.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мини‑исследования повторяющихся отклонений и оформлять аналитические записки с гипотезами и выводами.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производственные данные для расчета показателей эффективности оборудования и процессов (например, OEE и аналогичных метрик).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Формулировать предложения по корректировке режимов работы, параметров или регламентов на основе анализа выявленных аномалий и трендов.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сессии для команды по использованию инженерных данных в принятии решений, разрабатывать шаблоны аналитических отчетов по параметрам.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Формализовать и внедрять в подразделении подход к системной работе с инженерными и производственными данными (процедуры, шаблоны, стандарты).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методам анализа и использования производственных параметров при принятии управленческих и технологических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кейсы применения инженерных данных на внутренних методических площадках и участвовать в проектах по развитию аналитики производственных данных на уровне компании.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ПРОИЗВОДСТВЕННЫХ И СЕНСОРНЫХ ДАННЫХ (ПАИ/АСОДУ)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инструменты анализа данных: расширенные функции табличных редакторов (сложные формулы, статистические функции) и, при возможности, специализированные средства обработки данных (например, языки программирования для анализа данных).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параметры оборудования и технологические режимы по технической документации, формируя понимание нормальных и аномальных диапазонов значений.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372424" y="40041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разборе отклонений и инцидентов, выполняя анализ сенсорных данных за период до события и формулируя выводы по возможным причинам.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Входить в межфункциональные команды по улучшению процессов, использующие производственные и сенсорные данные в качестве основы для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целевой анализ выбранного массива производственных данных (например, сопоставление параметров оборудования с качеством продукции или потреблением ресурсов), оформляя результаты в виде структурированного отчета с визуализацией.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применять простые расчетные модели или алгоритмы для прогнозирования поведения ключевых параметров.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351687" y="3481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367761" y="68570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интерфейсами систем ПАИ/АСОДУ, базовой структурой сигналов и принципами отображения трендов.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 за работой опытных специалистов (операторов, инженеров) при интерпретации показаний и реагировании на события, фиксируя типовые паттерны.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347024" y="63346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ПРОИЗВОДСТВЕННЫХ И СЕНСОРНЫХ ДАННЫХ (ПАИ/АСОДУ)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1"/>
          <p:cNvSpPr/>
          <p:nvPr/>
        </p:nvSpPr>
        <p:spPr>
          <a:xfrm>
            <a:off x="347024" y="1895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задание по открытию и описанию тренда параметра в системе (характер поведения, возможные причины изменений).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сигналы в рамках тестового сценария и формулировать предварительные выводы с последующей проверкой у более опытного сотрудника.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самостоятельный анализ выделенного участка данных из систем ПАИ/АСОДУ, описывать динамику параметров и возможные причины изменений.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результаты анализа в виде структурированного отчета и представлять их на командных встречах или рабочих сессиях.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карты сигналов и точек контроля для отдельных единиц оборудования или участков процесса.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сценарии диагностики состояния оборудования с использованием данных ПАИ/АСОДУ.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обучающие сессии для команды по интерпретации сигналов, выявлению зон риска и выработке корректирующих действий.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работе с системами ПАИ/АСОДУ и методикам анализа сенсорных данных на продвинутом уровне.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актуализации методологии использования сенсорных данных в компании (подходы, стандарты, шаблоны).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типовые формы и шаблоны аналитических отчетов, внедрять регулярную практику анализа сенсорных данных в подразделении и сопровождать ее методически.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ПРАВИЛ ЦИФРОВОЙ ГИГИЕНЫ И БЕЗОПАСНОГО ПОВЕДЕНИЯ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2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нормативные документы и открытые ресурсы по кибергигиене и безопасности в цифровой среде.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внутренние политики и регламенты компании по информационной безопасности, включая правила работы с корпоративной почтой, мессенджерами и сетевыми ресурсами.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осознанное отношение к собственному поведению в цифровой среде (проверка адресов сайтов, использование надежных каналов передачи данных, избежание рискованных действий).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2"/>
          <p:cNvSpPr/>
          <p:nvPr/>
        </p:nvSpPr>
        <p:spPr>
          <a:xfrm>
            <a:off x="372424" y="42708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роли помощника службы информационной безопасности, оказывая поддержку в проведении разъяснительных и обучающих мероприятий для сотрудников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с коллегами практическими знаниями по распознаванию рисков (фишинговые письма, социальная инженерия, небезопасные практики).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учениях и проверках по кибербезопасности, проводимых службой информационной безопасности (например, проверки на устойчивость к фишингу).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Брать на себя ответственность за соблюдение правил цифровой гигиены в команде и периодически проводить самопроверку по установленному чек-листу.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51687" y="3748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2"/>
          <p:cNvSpPr/>
          <p:nvPr/>
        </p:nvSpPr>
        <p:spPr>
          <a:xfrm>
            <a:off x="367761" y="69967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курс по цифровой безопасности, включающий темы анализа рисков, распознавания фишинга и управления паролями.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политикой информационной безопасности компании и убедиться в понимании ключевых требований.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проверку собственного рабочего места и устройств на соответствие базовым требованиям безопасности.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2"/>
          <p:cNvSpPr/>
          <p:nvPr/>
        </p:nvSpPr>
        <p:spPr>
          <a:xfrm>
            <a:off x="347024" y="6474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ПРАВИЛ ЦИФРОВОЙ ГИГИЕНЫ И БЕЗОПАСНОГО ПОВЕДЕНИЯ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3"/>
          <p:cNvSpPr/>
          <p:nvPr/>
        </p:nvSpPr>
        <p:spPr>
          <a:xfrm>
            <a:off x="347024" y="1895909"/>
            <a:ext cx="6064351" cy="637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собственное поведение в мессенджерах и электронной почте с точки зрения соблюдения правил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Незамедлительно сообщать об обнаруженных подозрительных письмах, ссылках или событиях в соответствующие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установленные процедуры при работе с вероятно скомпрометированными сообщениями или ресурсами.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принципы минимизации доступа и хранения только необходимой информации в цифровой среде.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собственные рабочие привычки с точки зрения соответствия установленным практикам информационной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краткий инструктаж для нового сотрудника или коллеги по основным правилам цифровой гигиены.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Вносить предложения по повышению культуры безопасного поведения в команде на основе выявленных рисков.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и поддерживать безопасные каналы хранения и обмена информацией в команде в соответствии с политикой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экспресс-проверки соблюдения требований безопасности в команде (аудит рабочих мест, процессов передачи данных).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поддерживать актуальные памятки, чек-листы и руководства по безопасному поведению в цифровой среде.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коллег по специфическим ситуациям и сценариям (удаленная работа, использование внешних носителей информации, работа с внешними партнерами).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ПРАВИЛ ЦИФРОВОЙ ГИГИЕНЫ И БЕЗОПАСНОГО ПОВЕДЕНИЯ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на командных мероприятиях с докладами и презентациями по цифровой гигиене и культуре информационной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обучение новых сотрудников и групп по основам и передовым практикам цифровой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актуализации методических материалов, курсов и программ по информационной безопасности.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координировать инициативы по повышению уровня культуры безопасности на уровне подразделения или функции.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УЧАСТИЕ В ЦИФРОВЫХ ИНИЦИАТИВАХ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УЛУЧШЕНИЯХ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инновационного менеджмента и методологии agile-трансформации (Scrum, Kanban, принципы Lean).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внутренними регламентами и процедурами по запуску цифровых инициатив, включая процесс от идеи к проекту.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успешных цифровых инициатив в компании и на рынке, изучая факторы успеха, процессы реализации и полученные эффекты.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372424" y="3966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записываться добровольцем на программы тестирования и пилотирования новых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корпоративных мероприятиях по сбору и генерации идей (инновационные сессии, конкурсы, фабрики идей).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Формулировать и подавать собственные идеи по улучшению цифровых процессов и систем.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реализовывать локальные улучшения в цифровом рабочем процессе, не дожидаясь запуска масштабных проектов.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351687" y="3443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367761" y="65522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базовыми принципами пилотирования и тестирования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качестве тестировщика в пилотной программе нового ИТ-решения, наблюдая процесс сбора обратной связи.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Высказать и зафиксировать мнение о функциональности и удобстве цифрового инструмента в анкетировании или опросе.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347024" y="6029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УЧАСТИЕ В ЦИФРОВЫХ ИНИЦИАТИВАХ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УЛУЧШЕНИЯХ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347024" y="1895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участвовать в пилотной программе тестирования, выполняя типовые сценарии использования.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и фиксировать сбои, ошибки и неудобства в использовании решения, формулируя предложения по улучшению.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командных сессиях обсуждения результатов тестирования и формирования пула улучшений.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идею по улучшению или расширению функциональности цифрового инструмента, основанную на собственном опыте.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тестировании новых функций или модулей, взаимодействуя с командой разработки.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и оформить предложение по инициативе, включая описание проблемы, желаемого результата и ожидаемого эффекта.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сбор обратной связи от коллег и синтезировать их мнение в структурированное предложение.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процесс тестирования цифрового решения в своей команде, координируя работу тестировщиков и сбор результатов.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применять методику или шаблон для структурированного сбора обратной связи по цифровым решениям.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сессиях приоритизации и обсуждения портфеля цифровых инициатив, обосновывая важность и эффект предложений.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результаты пилотирования и проверки гипотез на совещаниях заинтересованных сторон.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УЧАСТИЕ В ЦИФРОВЫХ ИНИЦИАТИВАХ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УЛУЧШЕНИЯХ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47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подразделения по методикам генерации идей, пилотирования и оценки цифровых инициатив.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цифровом комитете или рабочей группе по управлению портфелем цифровых проектов на уровне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документировать методику сбора, оценки и приоритизации цифровых инициатив.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внедрение и масштабирование успешных цифровых решений, обеспечивая адаптацию в подразделениях.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ОТКРЫТОСТЬ К ОБУЧЕНИЮ НОВЫМ ИНСТРУМЕНТАМ И МЕТОДАМ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8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планировать и выполнять обучение новым инструментам, методам и подходам, используя как корпоративные (WebTutor, система управления знаниями), так и внешние (открытые онлайн-курсы) образовательные ресурсы.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функциональность корпоративной базы знаний, цифровых помощников и ботов, поддерживающих быстрый поиск информации и обучение.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4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48"/>
          <p:cNvSpPr/>
          <p:nvPr/>
        </p:nvSpPr>
        <p:spPr>
          <a:xfrm>
            <a:off x="372424" y="3673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Быть в числе первых пользователей и тестировщиков новых цифровых решений, запускаемых в компании, проявляя инициативу при обращении к сотрудникам.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Посещать внутренние мероприятия, на которых демонстрируются новые технологии и практики (демо-дни, вебинары, встречи функциональных подразделений).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брать на себя задачи, требующие освоения новых цифровых инструментов и методов.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практики и инструменты смежных функций, расширяя собственный цифровой кругозор.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48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48"/>
          <p:cNvSpPr/>
          <p:nvPr/>
        </p:nvSpPr>
        <p:spPr>
          <a:xfrm>
            <a:off x="367761" y="62601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Посетить демонстрационную сессию или вебинар по новому инструменту или технологии.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Задать уточняющие вопросы по непонятным аспектам на сессии обсуждения или в прямом общении с экспертом.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наставником или коллегой применяемые в команде новые инструменты и их возможности.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8"/>
          <p:cNvSpPr/>
          <p:nvPr/>
        </p:nvSpPr>
        <p:spPr>
          <a:xfrm>
            <a:off x="347024" y="57377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ОТКРЫТОСТЬ К ОБУЧЕНИЮ НОВЫМ ИНСТРУМЕНТАМ И МЕТОДАМ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9"/>
          <p:cNvSpPr/>
          <p:nvPr/>
        </p:nvSpPr>
        <p:spPr>
          <a:xfrm>
            <a:off x="347024" y="1895909"/>
            <a:ext cx="6064351" cy="66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Зарегистрироваться и пройти воркшоп или практический курс по новому инструменту.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функции новых инструментов на регулярной основе (минимум еженедельно), интегрируя их в рабочие процессы.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личную шпаргалку, чек-лист или памятку по ключевым функциям и их использованию.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Тестировать несколько альтернативных решений при решении однотипных задач, сравнивая удобство и эффективность.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новые инструменты в рабочей деятельности на систематической основе, демонстрируя постоянное совершенствование навыков.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краткое описание, видео или гайд с практическими советами по использованию нового инструмента.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групповом обучении или внутреннем курсе, включая как роль ученика, так и роль помощника для менее опытных коллег.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влияние нового метода или инструмента на эффективность и качество выполняемых работ, фиксируя результаты.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и провести обучающую сессию для коллег по новому инструменту, демонстрируя практические примеры.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шаблоны, настройки и конфигурации нового инструмента для тиражирования в команде.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новый инструмент в командный процесс (планирование, сбор данных, аналитика), обеспечивая адоптацию и поддержку.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развития и улучшения инструмента совместно с ИТ-подразделением или поставщиком.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ОТКРЫТОСТЬ К ОБУЧЕНИЮ НОВЫМ ИНСТРУМЕНТАМ И МЕТОДАМ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50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регулярные обучающие сессии и практикумы для команд и подразделений по освоению новых инструментов и методов.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Запускать и координировать серии обучающих мероприятий (воркшопы, вебинары, нарезки знаний) по цифровым инновациям.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корпоративных стандартов, рекомендаций и инструкций по использованию новых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на корпоративных мероприятиях с подробными презентациями о внедрении новых подходов и инструментов, делясь опытом и лучшими практиками.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МЕНТОРСТВО И ПОДДЕРЖКА ЦИФРОВОЙ ГРАМОТНОСТИ КОЛЛЕГ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51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Проходить обучение навыкам наставничества, коучинга и взрослого обучения (андрагогики) для понимания особенностей обучения коллег.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Углублять собственную цифровую грамотность и компетентность, постоянно развивая навыки в областях, в которых планируется выступать в роли наставника.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методические материалы по проектированию и реализации программ наставничества, включая способы отслеживания прогресса ученика.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51"/>
          <p:cNvSpPr/>
          <p:nvPr/>
        </p:nvSpPr>
        <p:spPr>
          <a:xfrm>
            <a:off x="372424" y="3966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Вступать в корпоративные программы наставничества в качестве наставника по развитию цифровых компетенций.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сообществах практики и профессиональных сообществах, связанных с обучением и обменом знаниями.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Выделить время в расписании для систематического выполнения функций наставника и консультанта.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внутреннего тренера на командных встречах и сессиях, демонстрируя правильное использование цифровых инструментов.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51"/>
          <p:cNvSpPr/>
          <p:nvPr/>
        </p:nvSpPr>
        <p:spPr>
          <a:xfrm>
            <a:off x="351687" y="3443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51"/>
          <p:cNvSpPr/>
          <p:nvPr/>
        </p:nvSpPr>
        <p:spPr>
          <a:xfrm>
            <a:off x="367761" y="65522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Оказывать разовую поддержку коллеге при его вопросах или затруднениях с цифровыми инструментами.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Отвечать на конкретные вопросы, опираясь на собственный опыт и знания, даже при неполной уверенности.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релевантными ссылками на инструкции, шаблоны и гайды при возникновении вопросов.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1"/>
          <p:cNvSpPr/>
          <p:nvPr/>
        </p:nvSpPr>
        <p:spPr>
          <a:xfrm>
            <a:off x="347024" y="6029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МЕНТОРСТВО И ПОДДЕРЖКА ЦИФРОВОЙ ГРАМОТНОСТИ КОЛЛЕГ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2"/>
          <p:cNvSpPr/>
          <p:nvPr/>
        </p:nvSpPr>
        <p:spPr>
          <a:xfrm>
            <a:off x="347024" y="1895909"/>
            <a:ext cx="6064351" cy="66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личную консультацию с коллегой по конкретной задаче или инструменту, отведя необходимое время для объяснений.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Оказать практическую помощь в настройке инструментов (почта, доступы, профили) и выполнении первичных операций.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Объяснить пошагово порядок работы в системе (письменно или устно), убеждаясь в понимании.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и задокументировать часто возникающие вопросы коллег по цифровым темам для последующей работы.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процесс взаимной поддержки в команде по цифровым вопросам, включая определение ролей и процедур.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Выступить в роли основного консультанта при внедрении нового цифрового инструмента, оказывая поддержку всем членам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групповую обучающую сессию по использованию цифрового инструмента или решению типовой задачи.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и поддерживать актуальный FAQ или памятку по часто задаваемым вопросам и стандартным сценариям.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структурированное обучение коллег в период их адаптации к новым инструментам, системам или процессам.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практику взаимопомощи и знакомства в команде, включая пары наставник-ученик.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или инициировать команде инициативу по повышению цифровой грамотности подразделения (программа, проект, регулярные сессии).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Вовлекать других опытных коллег в процесс наставничества, координируя их деятельность и обмен опытом.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МЕНТОРСТВО И ПОДДЕРЖКА ЦИФРОВОЙ ГРАМОТНОСТИ КОЛЛЕГ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3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Стать координатором системы менторства по цифровым компетенциям в подразделении, спроектировав и управляя программой.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Выстроить процессы и подходы для систематической передачи цифровых знаний при ротации и приходе новых сотрудников.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и поддерживать цифровые ресурсы для поддержки менторства (база знаний, чат помощи, видеогайды, вебинары).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и систематизировать лучшие практики наставничества, создавая методическую базу для развития других наставников.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КРОСС-ФУНКЦИОНАЛЬНЫХ ЦИФРОВЫХ КОМАНДАХ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5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54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методологии совместной работы в распределенных командах (Scrum, Kanban, дизайн-мышление) и инструменты командной коллаборации.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расширенные функции платформ для видеоконференций и синхронной работы (функции опросов, разбиение на комнаты, совместное редактирование).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материалы по системному мышлению, эмоциональному интеллекту и управлению конфликтами для эффективного взаимодействия в кросс-функциональных средах.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5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54"/>
          <p:cNvSpPr/>
          <p:nvPr/>
        </p:nvSpPr>
        <p:spPr>
          <a:xfrm>
            <a:off x="372424" y="45375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Вступать в кросс-функциональные рабочие группы и проектные команды, активно участвуя в обсуждениях и высказывая точку зрения своего подразделения.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организовать регулярные встречи по обмену опытом между функциями по цифровым проектам и инициативам.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связующего звена между своей функцией и ИТ-подразделением при внедрении новых систем и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Апробировать роль фасилитатора, модератора или Scrum-мастера в кросс-функциональной команде, способствуя эффективной коллаборации.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54"/>
          <p:cNvSpPr/>
          <p:nvPr/>
        </p:nvSpPr>
        <p:spPr>
          <a:xfrm>
            <a:off x="351687" y="40150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54"/>
          <p:cNvSpPr/>
          <p:nvPr/>
        </p:nvSpPr>
        <p:spPr>
          <a:xfrm>
            <a:off x="367761" y="70974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участвовать в рабочих чатах и виртуальных совещаниях, задавая уточняющие вопросы и внося предложения.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Посетить кросс-функциональное совещание в качестве наблюдателя, изучая динамику взаимодействия и принципы работы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54"/>
          <p:cNvSpPr/>
          <p:nvPr/>
        </p:nvSpPr>
        <p:spPr>
          <a:xfrm>
            <a:off x="347024" y="6574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КРОСС-ФУНКЦИОНАЛЬНЫХ ЦИФРОВЫХ КОМАНДАХ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55"/>
          <p:cNvSpPr/>
          <p:nvPr/>
        </p:nvSpPr>
        <p:spPr>
          <a:xfrm>
            <a:off x="347024" y="2276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использовать цифровые каналы коммуникации (видеоконференции, мессенджеры, чаты) для взаимодействия с коллегами из других функций.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исполнителя в кросс-функциональной задаче, соблюдая установленные сроки и формы отчетности.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принципами взаимодействия и коммуникации в различных командах, адаптируя свой стиль общения.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обсуждение задачи в кросс-функциональной команде, четко формулируя проблему, цель и ожидаемый результат.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результаты совместной работы в согласованном формате (статус-отчет, техническое описание, аналитический обзор).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онлайн-встречу с использованием расширенного функционала платформы для синхронной работы.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 решать рабочие вопросы совместно с коллегами из других функций, поддерживая открытую коммуникацию.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Выступить в роли фасилитатора или организатора кросс-функциональной команды, координируя работу и обсуждение.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цифровые каналы взаимодействия (чаты, доски, каналы синхронной работы) и устанавливать правила командного взаимодействия.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Обеспечивать регулярную обратную связь участникам кросс-функциональной команды по прогрессу и качеству вклада.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Транслировать информацию и решения между функциями таким образом, чтобы они были понятны всем ролям и компетенциям.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КРОСС-ФУНКЦИОНАЛЬНЫХ ЦИФРОВЫХ КОМАНДАХ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56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систему партнерства и регулярного взаимодействия между функциями по цифровым инициативам.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и поддерживать информационные потоки и каналы обмена между подразделениями, обеспечивая прозрачность и синхронизацию.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координацию и обеспечивать стратегическое управление цифровыми инициативами на уровне кросс-функциональных комитетов.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адаптировать методики и подходы к работе в распределенных кросс-функциональных цифровых командах.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"/>
          <p:cNvSpPr/>
          <p:nvPr/>
        </p:nvSpPr>
        <p:spPr>
          <a:xfrm>
            <a:off x="714375" y="377600"/>
            <a:ext cx="5739000" cy="1800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ИНФОРМАЦИОННАЯ БЕЗОПАСНОСТЬ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ИМПОРТО- НЕЗАВИСИМОСТЬ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7"/>
          <p:cNvSpPr txBox="1"/>
          <p:nvPr/>
        </p:nvSpPr>
        <p:spPr>
          <a:xfrm>
            <a:off x="499750" y="2837925"/>
            <a:ext cx="5872200" cy="58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Инженерия информационной безопасности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Типология кибератак и защита от них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SkillBox: Информационная безопасность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https://skillbox.ru/course/security/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СберУниверситет: Кибергигиена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https://sberuniversity.ru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 Практикум: Кибергигиена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https://practicum.yandex.ru/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Чему можно доверять в Интернете?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https://www.kaspersky.ru/blog/information-check-2022/32247/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57"/>
          <p:cNvSpPr txBox="1">
            <a:spLocks noGrp="1"/>
          </p:cNvSpPr>
          <p:nvPr>
            <p:ph type="sldNum" idx="12"/>
          </p:nvPr>
        </p:nvSpPr>
        <p:spPr>
          <a:xfrm>
            <a:off x="6455672" y="92929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57"/>
          <p:cNvSpPr txBox="1"/>
          <p:nvPr/>
        </p:nvSpPr>
        <p:spPr>
          <a:xfrm>
            <a:off x="799139" y="2347273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ЗНАНИЕ ПРИНЦИПОВ И ТРЕБОВАНИЙ ИНФОРМАЦИОННОЙ БЕЗОПАСНОСТИ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58"/>
          <p:cNvSpPr/>
          <p:nvPr/>
        </p:nvSpPr>
        <p:spPr>
          <a:xfrm>
            <a:off x="347024" y="1895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нормативные документы по информационной безопасности: корпоративную политику, связанные регламенты, определяющие требования к сотрудникам и системам.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основополагающими принципами информационной безопасности: конфиденциальность, целостность, доступность (триада CIA).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международные стандарты и лучшие практики информационной безопасности (ISO 27001, типовые политики крупных компаний).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5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58"/>
          <p:cNvSpPr/>
          <p:nvPr/>
        </p:nvSpPr>
        <p:spPr>
          <a:xfrm>
            <a:off x="372424" y="41438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внутренних аудитах и оценках по информационной безопасности, оказывая поддержку проверяющим и отвечая на вопросы по своему подразделению.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Посещать мероприятия, организуемые службой информационной безопасности (вебинары, встречи, презентации по новым угрозам и политикам).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Принимать на себя функцию контактного лица (офицера безопасности) по информационной безопасности в своем подразделении.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текущие процессы и системы подразделения с целью выявления потенциальных уязвимостей и рисков.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проектах по внедрению новых средств защиты или политик информационной безопасности, выступая представителем бизнеса.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58"/>
          <p:cNvSpPr/>
          <p:nvPr/>
        </p:nvSpPr>
        <p:spPr>
          <a:xfrm>
            <a:off x="351687" y="3621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58"/>
          <p:cNvSpPr/>
          <p:nvPr/>
        </p:nvSpPr>
        <p:spPr>
          <a:xfrm>
            <a:off x="367761" y="733967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полным текстом политик информационной безопасности компании и убедиться в понимании основных требований.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проверку собственного рабочего места и устройств (компьютер, телефон, периферия) на соответствие базовым требованиям безопасности.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8"/>
          <p:cNvSpPr/>
          <p:nvPr/>
        </p:nvSpPr>
        <p:spPr>
          <a:xfrm>
            <a:off x="347024" y="6817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ЗНАНИЕ ПРИНЦИПОВ И ТРЕБОВАНИЙ ИНФОРМАЦИОННОЙ БЕЗОПАСНОСТИ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59"/>
          <p:cNvSpPr/>
          <p:nvPr/>
        </p:nvSpPr>
        <p:spPr>
          <a:xfrm>
            <a:off x="347024" y="1895909"/>
            <a:ext cx="6064351" cy="591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безопасную рабочую среду в соответствии с регламентом (пароли, шифрование, доступы, антивирусные решения).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установленные шаблоны и процедуры для безопасной передачи конфиденциальной информации.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Убедиться в том, что используемые рабочие системы и процессы соответствуют установленным политикам.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аудит собственного рабочего места на полное соответствие требованиям информационной безопасности.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краткое описание или памятку по безопасной работе в цифровой среде для своей команды. Оказать методическую помощь коллеге в настройке безопасной рабочей среды (почта, доступы, шифрование).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коллеге включить аспекты информационной безопасности при проектировании цифрового решения или процесса.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сессию для команды по принципам и требованиям информационной безопасности, адаптировав содержание под специфику работы подразделения.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Выступить координатором по информационной безопасности в своей команде, систематически контролируя соблюдение политик.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мониторинг рисков информационной безопасности при работе с подрядчиками и внешними партнерами.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доработки в политике информационной безопасности компании на основе практического опыта и выявленных пробелов.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ЗНАНИЕ ПРИНЦИПОВ И ТРЕБОВАНИЙ ИНФОРМАЦИОННОЙ БЕЗОПАСНОСТИ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6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60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разработке, актуализации или переработке политик информационной безопасности на корпоративном уровне.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внедрение новых подходов к информационной безопасности в подразделении, обеспечивая адоптацию и контроль.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по интеграции требований информационной безопасности в проекты и процессы.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внутренние аудиты, защищать результаты и рекомендации на совещаниях руководства.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ОСОЗНАННОЕ ОБРАЩЕНИЕ С ДАННЫМИ И КОРПОРАТИВНЫМИ СИСТЕМАМИ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347024" y="1895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политику компании по классификации данных и работе с информацией разных уровней конфиденциальности.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требованиями законодательства по защите данных (например, 152-ФЗ о персональных данных в Российской Федерации) и основными принципами.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практические навыки защиты данных: шифрование файлов, использование защищенных каналов передачи, управление доступом.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возможности корпоративных систем по маркировке уровня конфиденциальности документов и управлению правами доступа.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6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61"/>
          <p:cNvSpPr/>
          <p:nvPr/>
        </p:nvSpPr>
        <p:spPr>
          <a:xfrm>
            <a:off x="372424" y="4435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в роли ответственного за сохранность и надлежащее обращение с данными в своей команде или подразделении.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участвовать в мероприятиях по повышению осведомленности сотрудников о правильном обращении с конфиденциальной информацией.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ревизию процессов подразделения с целью убедиться в соответствии требованиям по защите данных (хранение, передача, доступ, уничтожение).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на рабочих устройствах и помочь коллегам установить все рекомендуемые меры защиты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51687" y="391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61"/>
          <p:cNvSpPr/>
          <p:nvPr/>
        </p:nvSpPr>
        <p:spPr>
          <a:xfrm>
            <a:off x="367761" y="69586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политикой компании по обработке персональных данных и классификации информации по уровням конфиденциальности.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нарушений защиты данных и их последствия для компании и сотрудников.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Убедиться в активации базовых средств защиты на собственных рабочих устройствах.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1"/>
          <p:cNvSpPr/>
          <p:nvPr/>
        </p:nvSpPr>
        <p:spPr>
          <a:xfrm>
            <a:off x="347024" y="6436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ОСОЗНАННОЕ ОБРАЩЕНИЕ С ДАННЫМИ И КОРПОРАТИВНЫМИ СИСТЕМАМИ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62"/>
          <p:cNvSpPr/>
          <p:nvPr/>
        </p:nvSpPr>
        <p:spPr>
          <a:xfrm>
            <a:off x="347024" y="1895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Установить на рабочих устройствах и использовать все рекомендуемые средства защиты (шифрование, пароли, антивирусное ПО).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обработке персональных данных оформлять и отправлять запросы на согласованную обработку через официальные каналы.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Убедиться, что все рабочие процессы подразделения соответствуют установленному регламенту обращения с конфиденциальной информацией.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Обрабатывать персональные данные в соответствии с регламентом, включая документирование согласий и отслеживание сроков хранения.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надлежащую документацию (журналы обработки, реестры доступа) по требованиям политики.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случаи ненадлежащей обработки информации в своих процессах и незамедлительно принимать меры.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письменную инструкцию по безопасной обработке данных для своей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регулярные экспресс-аудиты процессов обработки информации в подразделении (соответствие регламентам, уровни доступа, хранение).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обучение новых сотрудников правилам защиты информации и соответствующим процедурам.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Оформлять и систематизировать карточки инцидентов нарушения защиты, участвовать в разборе и расследовании.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предложения по усилению контроля и улучшению процессов обращения с данными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6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ОСОЗНАННОЕ ОБРАЩЕНИЕ С ДАННЫМИ И КОРПОРАТИВНЫМИ СИСТЕМАМИ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63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управлении инцидентами по нарушению защиты данных и проведении их анализа на уровне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 защиты и надлежащего обращения с данными в подразделении через регулярное обучение и контроль.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свою функцию на рабочих группах и комитетах по политике информационной безопасности и защите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другие функции по вопросам надлежащей обработки и защиты персональных данных и конфиденциальной информации.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6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ОЦЕНКИ РИСКОВ ИСПОЛЬЗОВАНИЯ ВНЕШНИХ СЕРВИСОВ И ТЕХНОЛОГИЙ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6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64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подходы к систематической идентификации рисков при использовании внешних ПО и сервисов: риски безопасности, операционные, регуляторные, финансовые.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концепцией зависимости от поставщиков (vendor lock-in) и угрозами импортзависимости в контексте технологических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и кейсы, демонстрирующие критерии выбора безопасных сервисов: наличие сертификатов, местоположение дата-центров, репутация провайдера, условия лицензирования. Анализировать подходы импортозамещения и альтернативные технологические решения, применяемые в компании и на рынке.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6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64"/>
          <p:cNvSpPr/>
          <p:nvPr/>
        </p:nvSpPr>
        <p:spPr>
          <a:xfrm>
            <a:off x="372424" y="48169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процессах отбора новых внешних сервисов и технологических решений, включая встречи с потенциальными поставщиками.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Задавать вопросы о защите данных, локализации информации, модели лицензирования и условиях обслуживания при оценке внешних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Посещать встречи архитекторов и служб информационной безопасности по вопросам использования и оценки внешних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оценку одного из используемых внешних сервисов подразделения с точки зрения рисков и оформить результаты в виде краткого отчета.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задачу мониторинга актуальности используемых технологий: отслеживать сроки окончания поддержки, изменения политики, обновления лицензирования.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64"/>
          <p:cNvSpPr/>
          <p:nvPr/>
        </p:nvSpPr>
        <p:spPr>
          <a:xfrm>
            <a:off x="351687" y="429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64"/>
          <p:cNvSpPr/>
          <p:nvPr/>
        </p:nvSpPr>
        <p:spPr>
          <a:xfrm>
            <a:off x="367761" y="79356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только утвержденные в компании внешние инструменты и сервисы, согласно реестру разрешенного ПО.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вводный курс по цифровой безопасности, включающий тему рисков использования внешних сервисов.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64"/>
          <p:cNvSpPr/>
          <p:nvPr/>
        </p:nvSpPr>
        <p:spPr>
          <a:xfrm>
            <a:off x="347024" y="7413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ОЦЕНКИ РИСКОВ ИСПОЛЬЗОВАНИЯ ВНЕШНИХ СЕРВИСОВ И ТЕХНОЛОГИЙ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65"/>
          <p:cNvSpPr/>
          <p:nvPr/>
        </p:nvSpPr>
        <p:spPr>
          <a:xfrm>
            <a:off x="347024" y="2276909"/>
            <a:ext cx="6064351" cy="637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популярный внешний инструмент (например, облачный сервис или SaaS-решение) на предмет основных рисков (доступ, хранение, передача данных).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политик компании по использованию внешних решений, высказывая практические соображения.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служебную записку по выявленной потенциальной уязвимости во внешнем сервисе для передачи в ИБ.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соответствия используемого внешнего сервиса корпоративным стандартам и требованиям информационной безопасности.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риски использования сервиса на основе установленного чек-листа (доступ, хранение, передача, восстановление данных, условия обслуживания).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обоснование использования или отказа от сервиса, включая риски и рекомендации по снижению рисков.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результаты анализа и рекомендации на встрече или сессии для обсуждения с заинтересованными лицами.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обучающую сессию для коллег по методике оценки рисков при выборе и использовании внешних сервисов.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и другие функции при выборе альтернативных решений, опираясь на критерии безопасности и соответствия.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методические материалы (чек-лист, гайд) по безопасным практикам использования внешних сервисов.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пилотном проекте с проведением оценки безопасности нового внешнего решения перед его массовым внедрением.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ОЦЕНКИ РИСКОВ ИСПОЛЬЗОВАНИЯ ВНЕШНИХ СЕРВИСОВ И ТЕХНОЛОГИЙ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66"/>
          <p:cNvSpPr/>
          <p:nvPr/>
        </p:nvSpPr>
        <p:spPr>
          <a:xfrm>
            <a:off x="347024" y="22769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регламентов и критериев компании по выбору и использованию внешних сервисов.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разработку и внедрение внутренней политики, содержащей требования к внешним технологиям и процесс их утверждения.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основам оценки цифровых рисков и выбору технологических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кейсы по оценке и внедрению безопасных внешних решений на уровне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ИБ-комитета или методологической группы.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7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ПОЛИТИКИ ЗАЩИТЫ ИНФОРМАЦИИ И ПЕРСОНАЛЬНЫХ ДАННЫХ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6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67"/>
          <p:cNvSpPr/>
          <p:nvPr/>
        </p:nvSpPr>
        <p:spPr>
          <a:xfrm>
            <a:off x="347024" y="2276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требования законодательства Российской Федерации по защите персональных данных (152-ФЗ) и внутреннюю политику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шаблонами и формами документации, используемыми в компании для надлежащей обработки персональных данных (согласия, реестры, отчеты).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67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67"/>
          <p:cNvSpPr/>
          <p:nvPr/>
        </p:nvSpPr>
        <p:spPr>
          <a:xfrm>
            <a:off x="372424" y="38898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Взаимодействовать с функцией, ответственной за защиту данных, обращаясь к ней при конкретных рабочих ситуациях вместо самостоятельных интерпретаций.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проверках и опросах компании по соблюдению требований защиты персональных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детальный аудит процессов подразделения на соответствие требованиям защиты информации и персональных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67"/>
          <p:cNvSpPr/>
          <p:nvPr/>
        </p:nvSpPr>
        <p:spPr>
          <a:xfrm>
            <a:off x="351687" y="3367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67"/>
          <p:cNvSpPr/>
          <p:nvPr/>
        </p:nvSpPr>
        <p:spPr>
          <a:xfrm>
            <a:off x="367761" y="600520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основными требованиями политики защиты персональных данных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нарушений и их последствия для компании и физических лиц. Убедиться, что базовые средства защиты установлены на рабочем месте.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Установить и использовать все необходимые защитные меры на рабочих устройствах (шифрование, пароли, доступы).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Обрабатывать персональные данные только через официально утвержденные системы и в соответствии с регламентом.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и документировать все операции с персональными данными в установленных журналах.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67"/>
          <p:cNvSpPr/>
          <p:nvPr/>
        </p:nvSpPr>
        <p:spPr>
          <a:xfrm>
            <a:off x="347024" y="54827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8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ПОЛИТИКИ ЗАЩИТЫ ИНФОРМАЦИИ И ПЕРСОНАЛЬНЫХ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68"/>
          <p:cNvSpPr/>
          <p:nvPr/>
        </p:nvSpPr>
        <p:spPr>
          <a:xfrm>
            <a:off x="347024" y="2276909"/>
            <a:ext cx="6064351" cy="668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Обрабатывать персональные данные в соответствии с регламентом, включая получение согласий, документирование и соблюдение сроков хранения.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надлежащую документацию по всем аспектам обработки (реестры, журналы доступа, согласия).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и докладывать о случаях ненадлежащей обработки данных для принятия коррективных мер.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инструкцию по защищенной обработке персональных данных для своей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проверки процессов подразделения на соответствие требованиям защиты данных (аудит уровней доступа, хранения, условий обработки).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новых сотрудников политике и процедурам защиты персональных данных при их адаптации.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инциденты нарушения защиты (утечки, несанкционированный доступ) и участвовать в их разборе и расследовании.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рекомендации по укреплению процессов защиты данных и предупреждению нарушений.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управлении инцидентами и проведении расследований по нарушениям защиты персональных данных на уровне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 защиты персональных данных в подразделении через регулярное обучение, коммуникацию и контроль.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подразделение в рабочих группах и на совещаниях по политике защиты данных и информационной безопасности.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коллег и другие функции по надлежащей обработке персональных данных и соблюдению требований законодательства.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8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9"/>
          <p:cNvSpPr/>
          <p:nvPr/>
        </p:nvSpPr>
        <p:spPr>
          <a:xfrm>
            <a:off x="445650" y="3544800"/>
            <a:ext cx="6252900" cy="2816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ПРЕДПРИНИМАТЕЛЬСКОГО, ПРОДУКТОВОГО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ПРОЦЕССНОГО МЫШЛЕНИЯ. ОРИЕНТАЦИЯ НА ЭФФЕКТ И УЛУЧШЕНИЯ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p6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"/>
          <p:cNvSpPr/>
          <p:nvPr/>
        </p:nvSpPr>
        <p:spPr>
          <a:xfrm>
            <a:off x="285025" y="704850"/>
            <a:ext cx="63904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ПРОДУКТОВОЕ </a:t>
            </a:r>
            <a:b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ПРЕДПРИНИМАТЕЛЬСКОЕ МЫШЛЕНИЕ</a:t>
            </a:r>
            <a:endParaRPr sz="3000" b="1" i="0" u="none" strike="noStrike" cap="none" dirty="0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70"/>
          <p:cNvSpPr txBox="1"/>
          <p:nvPr/>
        </p:nvSpPr>
        <p:spPr>
          <a:xfrm>
            <a:off x="446225" y="2323615"/>
            <a:ext cx="6229200" cy="6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Specialization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https://www.coursera.org/specializations/product-management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GoPractice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Симулятор управления продуктом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https://gopractice.ru/course/pm/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Krokit.org: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(бесплатно)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https://krokit.org/courses/product/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Reforge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International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https://www.reforge.com/products/product-management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Manager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профессия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https://skillfactory.ru/product-manager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Юнит-экономика и метрики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https://skillfactory.ru/unit-economics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Метрики продукта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https://netology.ru/programs/product-metrics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 Практикум: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https://practicum.yandex.ru/product-manager/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Симулятор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GoPractice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Симулятор метрик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https://gopractice.ru/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Бизнес с нуля. Метод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Startup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Вдохновл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нные: Как создавать продукты, которые любят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Дилемма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инноватора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Легко не будет. Как построить бизнес, когда вопросов больше ответов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На крючке. Как создавать продукты, формирующие привычки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Спроси маму. Как разговаривать с клиентами и подтвердить идею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Обзор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Что это: методология, метод или философия?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https://scrumtrek.ru/blog/agile-scrum/4029/metodologiya-agile/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Полное погружение в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продакт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-менеджмент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https://productlab.ru/product_manager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Лаборатория сильных продуктов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https://productlab.ru/laboratory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Нейросети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работы с продуктом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https://productlab.ru/ai-analytics-product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Обучение OKR с нуля до профи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https://productlab.ru/okr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Курс по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Kanban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https://productlab.ru/agile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Поиск идей для продукта и бизнеса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https://productlab.ru/search-ideas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Продуктовые исследования: клиенты, рынок, тренды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https://productlab.ru/product-research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Вывод продукта на рынок: маркетинг, аналитика, стратегия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https://productlab.ru/product-launch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7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70"/>
          <p:cNvSpPr txBox="1"/>
          <p:nvPr/>
        </p:nvSpPr>
        <p:spPr>
          <a:xfrm>
            <a:off x="582323" y="2193990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 dirty="0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ПРОБЛЕМЫ И ЭФФЕКТА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ТЕРМИНАХ ЭКОНОМИЧЕСКОГО РЕЗУЛЬТАТА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7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71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успешные бизнес-кейсы цифровых проектов в компании и на рынке, анализируя, какие метрики использовались для описания эффекта (EBITDA, OPEX, ROI, NPV, IRR).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основы финансового анализа: понятия затрат (CAPEX, OPEX), доходов, рентабельности, периода окупаемости.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расчета экономического эффекта от цифровых инициатив (расчет сэкономленного времени, снижения затрат, увеличения производительности).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7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71"/>
          <p:cNvSpPr/>
          <p:nvPr/>
        </p:nvSpPr>
        <p:spPr>
          <a:xfrm>
            <a:off x="372424" y="4474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Присутствовать (с разрешения) на инвестиционных комитетах и бюджетных совещаниях, где обсуждаются цифровые проекты и их экономическое обоснование. Взаимодействовать с финансовой функцией на ранних стадиях проработки идей и инициатив.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одного из цифровых проектов подразделения с точки зрения его влияния на ключевые финансовые показатели.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Включаться в процесс постановки финансовых целей и планирования бюджета подразделения, понимая связь между операционными и финансовыми показателями.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71"/>
          <p:cNvSpPr/>
          <p:nvPr/>
        </p:nvSpPr>
        <p:spPr>
          <a:xfrm>
            <a:off x="351687" y="3951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p71"/>
          <p:cNvSpPr/>
          <p:nvPr/>
        </p:nvSpPr>
        <p:spPr>
          <a:xfrm>
            <a:off x="367761" y="69704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основные финансовые метрики и показатели, используемые в компании (EBITDA, OPEX, ROI, производительность).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экономического обоснования цифровых проектов и инициатив.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71"/>
          <p:cNvSpPr/>
          <p:nvPr/>
        </p:nvSpPr>
        <p:spPr>
          <a:xfrm>
            <a:off x="347024" y="6447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ПРОБЛЕМЫ И ЭФФЕКТА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ТЕРМИНАХ ЭКОНОМИЧЕСКОГО РЕЗУЛЬТАТА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7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72"/>
          <p:cNvSpPr/>
          <p:nvPr/>
        </p:nvSpPr>
        <p:spPr>
          <a:xfrm>
            <a:off x="347024" y="2276909"/>
            <a:ext cx="6064351" cy="637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выразить управленческую или производственную проблему в финансовых терминах (например, «непроизводительное время» как потери в деньги).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экономистом или финансистом рабочую задачу на предмет экономического обоснования и расчета эффекта.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формировании разделов по эффекту проекта в документации или презентациях.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Рассчитать основной экономический эффект проекта через показатели (снижение OPEX, увеличение производительности в денежном выражении, улучшение ROI).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и представить расчеты эффекта на встрече рабочей группы или руководителю.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цифровую инициативу или проект с разделом по экономическому обоснованию и ожидаемому эффекту.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Защитить экономику проекта, отвечая на вопросы и уточняя методику расчетов на встречах или совещаниях.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предложение или проект с ключевыми финансовыми метриками компании (EBITDA, маржа, рентабельность, производительность).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Верифицировать расчеты эффекта совместно с финансовой функцией, убедиться в корректности методики и исходных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Помочь коллегам оформить экономический эффект от их инициатив, обучая процессу расчета и обоснования.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 своей команде унифицированный подход к расчету и описанию экономического эффекта инициатив.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ПРОБЛЕМЫ И ЭФФЕКТА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ТЕРМИНАХ ЭКОНОМИЧЕСКОГО РЕЗУЛЬТАТА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73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комплексную модель расчета общей стоимости владения (TCO) и возврата инвестиций (ROI) для цифровых решений.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методологии построения экономически обоснованных бизнес-кейсов и проектных предложений.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результаты расчета эффекта на стратегических сессиях инвестиционного комитета.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формировании и управлении портфелем инициатив, приоритизируя их по экономическому эффекту и стратегической важности.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ПОСТАНОВКА И ПРОВЕРКА ГИПОТЕЗ КОРОТКИМИ ИТЕРАЦИЯМИ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7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6" name="Google Shape;666;p74"/>
          <p:cNvSpPr/>
          <p:nvPr/>
        </p:nvSpPr>
        <p:spPr>
          <a:xfrm>
            <a:off x="347024" y="1895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подходы и методологии быстрого тестирования идей: HADI (Hypothesis-Action-Data-Insights), принципы бережливых экспериментов (Lean Startup), методы A/B-тестирования.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инструментарий для постановки проверяемых гипотез, определения критериев успеха и анализа результатов экспериментов.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элементарными методами статистического анализа и сбора обратной связи для корректной оценки результатов тестов.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7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74"/>
          <p:cNvSpPr/>
          <p:nvPr/>
        </p:nvSpPr>
        <p:spPr>
          <a:xfrm>
            <a:off x="372424" y="40803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Внедрять принцип работы с гипотезами в повседневную деятельность, предварительно тестируя идеи на ограниченной выборке перед масштабным внедрением.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документ или журнал гипотез и экспериментов, фиксируя постановку, ход тестирования, результаты и выводы.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Продвигать культуру быстрого тестирования в команде, демонстрируя успешные примеры и обучая методике.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74"/>
          <p:cNvSpPr/>
          <p:nvPr/>
        </p:nvSpPr>
        <p:spPr>
          <a:xfrm>
            <a:off x="351687" y="3557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74"/>
          <p:cNvSpPr/>
          <p:nvPr/>
        </p:nvSpPr>
        <p:spPr>
          <a:xfrm>
            <a:off x="367761" y="63236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практическое упражнение по формулировке простой проверяемой гипотезы на примере рабочей задачи.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гипотез других сотрудников или команд, задавая уточняющие вопросы.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74"/>
          <p:cNvSpPr/>
          <p:nvPr/>
        </p:nvSpPr>
        <p:spPr>
          <a:xfrm>
            <a:off x="347024" y="5801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ПОСТАНОВКА И ПРОВЕРКА ГИПОТЕЗ КОРОТКИМИ ИТЕРАЦИЯМИ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75"/>
          <p:cNvSpPr/>
          <p:nvPr/>
        </p:nvSpPr>
        <p:spPr>
          <a:xfrm>
            <a:off x="347024" y="18959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гипотезу по собственной задаче в формате «Если [действие], то [ожидаемый результат]».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краткий план тестирования гипотезы, включая критерии успеха и метрики для измерения.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тест гипотезы в ограниченном объеме (на одной группе, в одном сценарии).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 результаты теста и сформулировать выводы (подтвердилась или опровергалась гипотеза).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от опытного коллеги или куратора по корректности и применимости подхода.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цикл коротких гипотез в управлении своим проектом или задачей.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HADI-циклы (гипотеза–действие–данные–инсайт) для отслеживания прогресса и обучения.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результатами успешных тестов гипотез с командой, демонстрируя ценность быстрого тестирования.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видимое место для фиксации и отслеживания гипотез (доска, таблица, трекер).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командой или группой в проведении цикла коротких экспериментов для решения управленческой задачи.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ретроспективу по результатам тестирования гипотез и масштабировать удачные эксперименты в полномасштабное внедрение.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в рабочем процессе подхода «сначала гипотеза и тест, потом полномасштабное решение».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обучающую или ознакомительную сессию для команды по методике постановки и проверки гипотез.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ПОСТАНОВКА И ПРОВЕРКА ГИПОТЕЗ КОРОТКИМИ ИТЕРАЦИЯМИ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76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культуру экспериментирования и быстрого тестирования гипотез на уровне функции или подразделения.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шаблоны, чек-листы и методические материалы для постановки и проверки гипотез, адаптированные для компании.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трек гипотез и экспериментов в масштабном инициативе или проекте, обеспечивая регулярный цикл тестирования и обучения.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коллег из других функций основам быстрого тестирования идей и валидации гипотез.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7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7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ЦИФРОВЫХ ИДЕЙ НА ОСНОВЕ ПОЛЬЗОВАТЕЛЬСКИХ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ПРОИЗВОДСТВЕННЫХ ИНСАЙТОВ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p7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77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методы продуктового мышления и дизайн-мышления для выявления и решения пользовательских проблем.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Осваивать инструменты сбора инсайтов: построение карты пути пользователя (Customer Journey Map), метод 5 «Почему» (5 Why) для выявления корневых причин, методы генерации идей (мозговой штурм, SCAMPER и др.).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успешных цифровых решений, которые возникли на основе глубокого понимания проблем пользователей и производственных процессов.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8" name="Google Shape;698;p77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77"/>
          <p:cNvSpPr/>
          <p:nvPr/>
        </p:nvSpPr>
        <p:spPr>
          <a:xfrm>
            <a:off x="372424" y="44740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исследовательских активностях: присутствовать на интервью и встречах, где собирается информация о проблемах и потребностях пользователей.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Активно участвовать в брейнстормах, дизайн-сессиях и творческих встречах по разработке цифровых улучшений.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анализе управленческой или производственной проблемы начинать с выявления пользовательского инсайта или боли.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на ранней стадии (Discovery) разработки цифрового продукта или сервиса, помогая в исследовании потребностей.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77"/>
          <p:cNvSpPr/>
          <p:nvPr/>
        </p:nvSpPr>
        <p:spPr>
          <a:xfrm>
            <a:off x="351687" y="3951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77"/>
          <p:cNvSpPr/>
          <p:nvPr/>
        </p:nvSpPr>
        <p:spPr>
          <a:xfrm>
            <a:off x="367761" y="697040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понятием «пользовательская боль» и примерами инициатив, возникающих из глубокого понимания проблем.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Попрактиковаться: описать собственную боль или проблему из рабочего опыта.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примеры хороших и плохих идей, определяя, были ли они основаны на реальных инсайтах.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77"/>
          <p:cNvSpPr/>
          <p:nvPr/>
        </p:nvSpPr>
        <p:spPr>
          <a:xfrm>
            <a:off x="347024" y="6447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8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ЦИФРОВЫХ ИДЕЙ НА ОСНОВЕ ПОЛЬЗОВАТЕЛЬСКИХ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ПРОИЗВОДСТВЕННЫХ ИНСАЙТОВ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7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78"/>
          <p:cNvSpPr/>
          <p:nvPr/>
        </p:nvSpPr>
        <p:spPr>
          <a:xfrm>
            <a:off x="347024" y="2276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обратную связь от 2–3 пользователей (коллег, клиентов подразделения) по их проблемам и потребностям.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Структурировать собранные запросы по шаблону: что мешает, почему это важно, какой результат ожидается.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идею решения на основе выявленных инсайтов и представить ее команде или рабочей группе.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и рекомендации, включив их в доработку идеи.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краткие интервью с несколькими пользователями (5–10 человек) для выявления типичных болей и потребностей.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интервью выделить корневые проблемы и сформулировать цифровую инициативу или улучшение.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Защитить идею на сессии или рабочей группе, аргументируя ее значимостью выявленной проблемы.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инициативу в виде документа с описанием проблемы, целевой группы, предлагаемого решения и ожидаемого эффекта.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Связывать выявленные пользовательские инсайты с задачами и стратегией бизнеса, показывая стратегическое значение инициативы.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портфель идей, основанных на инсайтах, на уровне подразделения или функции.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коллегам и менее опытным сотрудникам в артикуляции их идей, опираясь на инсайты.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дизайн-мышление и инструменты для выявления глубоких причин проблем и генерации творческих решений.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8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9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ЦИФРОВЫХ ИДЕЙ НА ОСНОВЕ ПОЛЬЗОВАТЕЛЬСКИХ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ПРОИЗВОДСТВЕННЫХ ИНСАЙТОВ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7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79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системный процесс сбора инсайтов от пользователей и производства.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и функции методологии выявления инсайтов и формулирования идей на их основе.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типовую методику, форму или шаблон для выявления болей пользователей и генерации идей.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портфель идей и инициатив на стратегических сессиях и совещаниях руководства.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79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0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И ПРИОРИТИЗАЦИЯ ИНИЦИАТИВ ПО ЭФФЕКТУ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ТРУДОЗАТРАТАМ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7" name="Google Shape;727;p8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80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базовые материалы по приоритизации инициатив и проектов: принцип «затраты–эффект», матрица Impact/Effort, модели RICE, MoSCoW, Kano.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примерами портфельного управления и приоритизации в компании и на рынке, анализируя, какие критерии использовались для выбора инициатив.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ошибок приоритизации и их последствия: анализировать случаи, когда выбранные проекты не принесли ожидаемого результата или ресурсы были распределены неправильно.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80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80"/>
          <p:cNvSpPr/>
          <p:nvPr/>
        </p:nvSpPr>
        <p:spPr>
          <a:xfrm>
            <a:off x="372424" y="45756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Включаться в процесс планирования и приоритизации инициатив функции или подразделения, наблюдая критерии и логику выбора.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подготовку первичной оценки нескольких инициатив: описать ожидаемый эффект (деньги, время, FTE), примерные трудозатраты, сроки реализации и риски.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сессиях приоритизации (портфельных встречах), задавая уточняющие вопросы, фиксируя критерии и помогая переводить обсуждение из субъективных предпочтений в объективные показатели.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80"/>
          <p:cNvSpPr/>
          <p:nvPr/>
        </p:nvSpPr>
        <p:spPr>
          <a:xfrm>
            <a:off x="351687" y="4053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80"/>
          <p:cNvSpPr/>
          <p:nvPr/>
        </p:nvSpPr>
        <p:spPr>
          <a:xfrm>
            <a:off x="367761" y="6970404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идей и инициатив, фиксируя список предложений без попытки их ранжировать.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«задним числом» расставить идеи по субъективному ощущению важности и сравнить с фактическими решениями руководства, выявляя разницу.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80"/>
          <p:cNvSpPr/>
          <p:nvPr/>
        </p:nvSpPr>
        <p:spPr>
          <a:xfrm>
            <a:off x="347024" y="6447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И ПРИОРИТИЗАЦИЯ ИНИЦИАТИВ ПО ЭФФЕКТУ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ТРУДОЗАТРАТАМ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8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81"/>
          <p:cNvSpPr/>
          <p:nvPr/>
        </p:nvSpPr>
        <p:spPr>
          <a:xfrm>
            <a:off x="347024" y="2276909"/>
            <a:ext cx="6064351" cy="561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2–3 задач описать простую связку «какой ресурс тратим / что выигрываем» (время людей, деньги, избегаемые риски).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черновую матрицу «затраты–эффект» для небольшого набора инициатив и обсудить ее с более опытным коллегой или аналитиком.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по логике оценки и доработать методику.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матрицу приоритизации (Impact/Effort или аналогичную) для пула инициатив своей команды, используя согласованные критерии.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трудозатраты (часы, FTE, календарные сроки) и потенциальную экономию времени, денег или других ресурсов по каждой инициативе.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командной сессии приоритизации в качестве докладчика, защищая оценку по 3–5 инициативам, отвечая на вопросы.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1–2 ключевых инициатив провести расчет ROI, NPV или эффекта в FTE по согласованной с финансовой функцией методике.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краткий документ или слайды «почему именно эта инициатива в приоритете» с цифрами, рисками, затратами и альтернативами.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сессию приоритизации для команды или функции, модерируя обсуждение критериев и обеспечивая прозрачность процесса.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Отслеживать актуальность приоритетов, пересматривая портфель при изменении условий или появлении новых инициатив.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8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И ПРИОРИТИЗАЦИЯ ИНИЦИАТИВ ПО ЭФФЕКТУ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ТРУДОЗАТРАТАМ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8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82"/>
          <p:cNvSpPr/>
          <p:nvPr/>
        </p:nvSpPr>
        <p:spPr>
          <a:xfrm>
            <a:off x="347024" y="2276909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 подразделении единый и повторяемый подход к оценке и приоритизации инициатив (шаблоны, критерии, периодичность пересмотра).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портфель инициатив на уровне функции или подразделения: регулярно пересматривать приоритеты, отслеживать эффект реализованных проектов и корректировать стратегию.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принципам портфельного управления и приоритизации, разбирать сложные случаи и конфликты приоритетов.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портфель инициатив на уровне руководства, обосновывая выбранные приоритеты и стратегию распределения ресурсов.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8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3"/>
          <p:cNvSpPr/>
          <p:nvPr/>
        </p:nvSpPr>
        <p:spPr>
          <a:xfrm>
            <a:off x="285030" y="70485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ПРОЦЕССНОЕ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СИСТЕМНОЕ МЫШЛЕНИЕ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83"/>
          <p:cNvSpPr txBox="1"/>
          <p:nvPr/>
        </p:nvSpPr>
        <p:spPr>
          <a:xfrm>
            <a:off x="517600" y="2509800"/>
            <a:ext cx="5734200" cy="6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The Business Process Management Framework (BPMN 2.0)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Изучая бизнес-процессы. Руководство по моделированию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Реинжиниринг бизнес-процессов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Фундаментальные основы управления бизнес-процессами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SkillFactory: Бизнес-процессы и оптимизация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https://skillfactory.ru/business-processes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ВШЭ: Процессное управление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https://hse.ru/edu/dpo/898841647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Бизнес-аналитик процессный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https://netology.ru/programs/business-analytics-online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Менеджер бизнес-процессов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https://netology.ru/programs/business_process_manager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Яндекс: Lean и оптимизация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https://practicum.yandex.ru/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Учебник — BPMN: Учебник (бесплатно)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https://www.bpmn.org/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Scrum Революционный метод управления проектами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9" name="Google Shape;759;p8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83"/>
          <p:cNvSpPr txBox="1"/>
          <p:nvPr/>
        </p:nvSpPr>
        <p:spPr>
          <a:xfrm>
            <a:off x="799139" y="1871022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СКВОЗНЫХ ПРОЦЕССОВ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ВЗАИМОСВЯЗЕЙ МЕЖДУ ФУНКЦИЯМИ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8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84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описания ключевых производственно-логистических цепочек компании («добыча — переработка — сбыт», «продажи — поставки — возвраты» и т.д.) и схемы взаимодействия функций.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описаниями процессов и регламентов компании, выявляя точки соприкосновения между функциями и критические зависимости.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цифровых проектов, которые требуют кросс-функциональной координации, и изучать, какие зависимости и взаимодействия были критичны для успеха.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8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84"/>
          <p:cNvSpPr/>
          <p:nvPr/>
        </p:nvSpPr>
        <p:spPr>
          <a:xfrm>
            <a:off x="372424" y="42200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проектах или инициативах, охватывающих несколько функций, чтобы лично пережить взаимодействие и зависимости.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встречи и обсуждения между функциями для совместной выработки решений, демонстрируя понимание взаимосвязей.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Брать на себя роль координатора или аналитика процесса, который пересекает несколько функций, отображая логику взаимодействия.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1" name="Google Shape;771;p84"/>
          <p:cNvSpPr/>
          <p:nvPr/>
        </p:nvSpPr>
        <p:spPr>
          <a:xfrm>
            <a:off x="351687" y="3697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p84"/>
          <p:cNvSpPr/>
          <p:nvPr/>
        </p:nvSpPr>
        <p:spPr>
          <a:xfrm>
            <a:off x="367761" y="629827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регламентами или описаниями ключевых сквозных процессов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наставником или коллегой из другой функции, как их работа связана с работой вашей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или описать простую схему взаимодействия своей функции с 1–2 другими функциями.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84"/>
          <p:cNvSpPr/>
          <p:nvPr/>
        </p:nvSpPr>
        <p:spPr>
          <a:xfrm>
            <a:off x="347024" y="5775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8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СКВОЗНЫХ ПРОЦЕССОВ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ВЗАИМОСВЯЗЕЙ МЕЖДУ ФУНКЦИЯМИ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8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85"/>
          <p:cNvSpPr/>
          <p:nvPr/>
        </p:nvSpPr>
        <p:spPr>
          <a:xfrm>
            <a:off x="347024" y="1895909"/>
            <a:ext cx="6064351" cy="591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задание, которое требует координации с другой функцией, и задокументировать точки передачи информации и зависимостей.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диаграмму или таблицу, показывающую, как решение в одной функции влияет на другие.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проблемы, которая захватывает несколько функций, предлагая решения, учитывающие интересы всех сторон.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полную карту сквозного процесса, охватывающего 3–4 функции, с выделением критических точек и зависимостей.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узкие места или неэффективности в сквозном процессе и сформулировать предложения по улучшению.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встречу или сессию для функций, вовлеченных в процесс, и совместно обсудить возможности оптимизации.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результаты анализа в виде документа или презентации с рекомендациями по улучшению взаимодействия.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проектом или инициативой, требующей кросс-функциональной работы, координируя участников и управляя зависимостями.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и документировать скрытые зависимости и точки взаимодействия между функциями, которые часто упускаются.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предлагать структурные или процессные решения, которые улучшают взаимодействие и снижают трение между функциями.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системному видению и анализу сквозных процессов.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8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СКВОЗНЫХ ПРОЦЕССОВ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ВЗАИМОСВЯЗЕЙ МЕЖДУ ФУНКЦИЯМИ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8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0" name="Google Shape;790;p86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и внедрить оптимизацию ключевого сквозного процесса компании, обеспечивая кросс-функциональное согласование и управление изменениями.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 системного мышления в организации, демонстрируя ценность понимания взаимосвязей между функциями.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Выступать в роли эксперта и консультанта по сквозным процессам при разработке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результаты анализа и улучшения сквозных процессов на стратегических совещаниях и в инвестиционном комитете.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8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8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УЗКИХ МЕСТ И ПОТЕРЬ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ПРОЦЕССАХ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8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9" name="Google Shape;799;p87"/>
          <p:cNvSpPr/>
          <p:nvPr/>
        </p:nvSpPr>
        <p:spPr>
          <a:xfrm>
            <a:off x="347024" y="1895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Lean-подхода: 7 видов потерь (перепроизводство, ожидание, транспортировка, лишние операции, дефекты, избыток информации, недостаточное использование человеческого потенциала).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методикой расчета OEE (Overall Equipment Effectiveness) и примерами повышения операционной эффективности в промышленности.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инструменты диагностики процессов: карты потока создания ценности (VSM), метод «5 почему», примеры анализа потерь 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 успешного применения Lean-диагностики в подразделении и на производстве.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0" name="Google Shape;800;p8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87"/>
          <p:cNvSpPr/>
          <p:nvPr/>
        </p:nvSpPr>
        <p:spPr>
          <a:xfrm>
            <a:off x="372424" y="4562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своем участке начать систематически замечать и фиксировать повторяющиеся задержки, дублирование действий, согласования, которые мешают работе.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разборе инцидентов или сбоев: помогать восстанавливать цепочку шагов, выявлять точки возникновения проблем.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сессиях Lean-диагностики (воркшопы по потерям) в роли участника или помощника ведущего.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найденные потери и обсуждать их с руководителем и коллегами, выявляя систематические проблемы.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87"/>
          <p:cNvSpPr/>
          <p:nvPr/>
        </p:nvSpPr>
        <p:spPr>
          <a:xfrm>
            <a:off x="351687" y="4040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87"/>
          <p:cNvSpPr/>
          <p:nvPr/>
        </p:nvSpPr>
        <p:spPr>
          <a:xfrm>
            <a:off x="367761" y="7123774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Lean и видами потерь.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в течение дня 3–5 типичных задержек или дублирований в собственном процессе.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каждый случай: что произошло, сколько времени занимало, какой результат потеряна.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наблюдения с коллегой.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87"/>
          <p:cNvSpPr/>
          <p:nvPr/>
        </p:nvSpPr>
        <p:spPr>
          <a:xfrm>
            <a:off x="347024" y="6601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УЗКИХ МЕСТ И ПОТЕРЬ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ПРОЦЕССАХ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8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88"/>
          <p:cNvSpPr/>
          <p:nvPr/>
        </p:nvSpPr>
        <p:spPr>
          <a:xfrm>
            <a:off x="347024" y="1895909"/>
            <a:ext cx="6064351" cy="714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опытным коллегой разобрать один процесс по шагам и выявить явные потери (ожидание, лишние действия, дефекты, перемещения).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простое упражнение «5 почему» по одной проблемной ситуации: задать пять раз вопрос «почему?», пока не обнаружится корневая причина.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найденные причины с командой.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карту текущего процесса (as-is) и отметить на ней узкие места и потери с указанием частоты возникновения и влияния на результат.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2–3 конкретных предложения по устранению каждого выявленного узкого места.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мини-отчет с визуализацией потерь и рекомендациями.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полноценную диагностику процесса по методике Lean (интервью с участниками, замеры времени, наблюдения за выполнением).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Рассчитать ориентировочный OEE и объем потерь времени в часах/днях в месяц. Запустить 1–2 инициативы по устранению выявленных потерь и довести их до результата, зафиксировав достигнутый эффект (сэкономленное время, качество, затраты).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регулярную практику поиска и устранения потерь в подразделении: определить ритм (еженедельные пятиминутки, ежемесячные диагностики), формат проведения, ответственные.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и актуализировать чек-листы и шаблоны для системного анализа потерь.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диагностике процессов, методу «5 почему», расчету эффекта.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портфель мероприятий по снижению потерь и отслеживать накопленный результат.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8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ПОСТРОЕНИЕ СХЕМ И МОДЕЛЕЙ ПРОЦЕССОВ (BPMN, SIPOC И ДР.)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8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89"/>
          <p:cNvSpPr/>
          <p:nvPr/>
        </p:nvSpPr>
        <p:spPr>
          <a:xfrm>
            <a:off x="347024" y="1895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нотаций моделирования: BPMN (Business Process Model and Notation), SIPOC (Supplier-Input-Process-Output-Customer), блок-схемы.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элементами нотаций: как обозначаются события, задачи, роли, условные переходы, потоки данных, типовые шаблоны.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корректно оформленных схем процессов из внутренних регламентов компании и открытых источников.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инструменты моделирования: Visio, Draw.io, Miro, встроенные инструменты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BPM-систем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8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p89"/>
          <p:cNvSpPr/>
          <p:nvPr/>
        </p:nvSpPr>
        <p:spPr>
          <a:xfrm>
            <a:off x="372424" y="46137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оформлять свои процессы в виде простых схем, вместо текстовых описаний, чтобы повысить наглядность.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описанию и стандартизации процессов, задавать вопросы по нотации и правилам оформления.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актуализацию 1–2 существующих схем процессов: проверить соответствие фактическим шагам, обновить роли и статусы, добавить недостающие связи.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найденными примерами и шаблонами с командой.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89"/>
          <p:cNvSpPr/>
          <p:nvPr/>
        </p:nvSpPr>
        <p:spPr>
          <a:xfrm>
            <a:off x="351687" y="4091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89"/>
          <p:cNvSpPr/>
          <p:nvPr/>
        </p:nvSpPr>
        <p:spPr>
          <a:xfrm>
            <a:off x="367761" y="7212674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схем и обозначениями в нотациях.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свой ежедневный процесс в виде простой блок-схемы (без строгой нотации): шаги, ответственные, условия.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схему с коллегой.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89"/>
          <p:cNvSpPr/>
          <p:nvPr/>
        </p:nvSpPr>
        <p:spPr>
          <a:xfrm>
            <a:off x="347024" y="66902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9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ПОСТРОЕНИЕ СХЕМ И МОДЕЛЕЙ ПРОЦЕССОВ (BPMN, SIPOC И ДР.)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9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90"/>
          <p:cNvSpPr/>
          <p:nvPr/>
        </p:nvSpPr>
        <p:spPr>
          <a:xfrm>
            <a:off x="347024" y="1895909"/>
            <a:ext cx="6064351" cy="73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простую текстовую инструкцию (например, процесс согласования документа) и перевести ее в схему формата BPMN light или SIPOC по готовому образцу.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по корректности и понятности схемы от опытного методолога или коллеги. Скорректировать схему с учетом замечаний.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Смоделировать ключевой процесс своего подразделения в BPMN или SIPOC с полной детализацией: роли, события-триггеры, условные переходы, альтернативные ветки, точки принятия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схему с участниками процесса (исполнители, руководители) и убедиться в ее соответствии действительности.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модель как основу для разработки регламента, ТЗ или обучения новых сотрудников.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модели текущего и целевого состояний процесса («as-is» и «to-be»): выявить дубли, лишние шаги, автоматизируемые операции, возможности упрощения.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сравнения моделей инициировать изменения (упрощение маршрута, исключение согласований, автоматизация, перераспределение ответственности).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обоснование (затраты, эффект, риски) и согласовать с руководством и IT.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в подразделении единые стандарты моделирования: шаблоны в инструментах, правила нотации, библиотека типовых элементов, требования к уровню детализации.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построению, чтению и интерпретации процессных схем.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экспертизе и согласовании сложных моделей, выявляя логические ошибки и несогласованности.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актуализацию библиотеки процессных схем подразделения.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9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1"/>
          <p:cNvSpPr/>
          <p:nvPr/>
        </p:nvSpPr>
        <p:spPr>
          <a:xfrm>
            <a:off x="445655" y="30000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КУЛЬТУРЫ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ВЛАДЕНИЯ ИНСТРУМЕНТАМИ АНАЛИЗА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ЦИФРОВИЗАЦИИ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9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92"/>
          <p:cNvSpPr/>
          <p:nvPr/>
        </p:nvSpPr>
        <p:spPr>
          <a:xfrm>
            <a:off x="368305" y="465508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ДАННЫМИ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АНАЛИТИКОЙ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9" name="Google Shape;849;p92"/>
          <p:cNvSpPr txBox="1"/>
          <p:nvPr/>
        </p:nvSpPr>
        <p:spPr>
          <a:xfrm>
            <a:off x="352655" y="1462408"/>
            <a:ext cx="6443400" cy="6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3.0: Развитие аналитики данных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Наука о данных с нуля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Naked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Statistics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Stripping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Dread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анализа данных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Введение в машинное обучение с помощью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Люди Икса. Как лучшие компании развивают свои данные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Математические основы машинного обучения и прогнозирования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https://www.coursera.org/learn/analytics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Coursera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SQL для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https://www.coursera.org/learn/sql-for-data-analysis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Academy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SQL для анализа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https://digitalskillsacademy.ru/sql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GeekBrains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быстрый старт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https://geekbrains.ru/courses/data_science_basics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Аналитика для бизнеса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https://skillfactory.ru/analytics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SkillFactory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Статистика и гипотезы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https://skillfactory.ru/statistics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Skillbox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аналитики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https://skillbox.ru/course/python-analytics/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Skillbox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Введение в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Science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https://skillbox.ru/course/analytics/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Stepik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SQL курсы (бесплатно)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https://stepik.org/course/324/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Udemy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для аналитики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https://www.udemy.com/course/advanced-excel/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BI-аналитика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Tableau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BI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3"/>
              </a:rPr>
              <a:t>https://netology.ru/programs/bi-analytics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продвинутый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https://netology.ru/programs/excel-advanced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Нетология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Аналитик данных с SQL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https://netology.ru/programs/analytics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 Практикум: Продуктовая аналитика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https://practicum.yandex.ru/product-analytics/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Яндекс: A/B-тестирование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https://practicum.yandex.ru/ab-testing/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Говори на языке диаграмм. Пособие по визуальным коммуникациям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https://www.mann-ivanov-ferber.ru/catalog/product/026/?srsltid=AfmBOooe4bUNDxJagjASlRdIoEDFHIF9f1WID6JOIdV-071oz_QzpgFq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Виды диаграмм — какие бывают, примеры и применение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https://kaiten.ru/blog/vidy-diaghramm/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ВИЗУАЛИЗАЦИЯ ДАННЫХ И ПРОДВИНУТОЕ TABLEAU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</a:t>
            </a:r>
            <a:r>
              <a:rPr lang="ru-RU" sz="10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Инфографика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https://www.mann-ivanov-ferber.ru/catalog/product/infografika/?srsltid=AfmBOormG5KU5UG6YObgZkVnJ7elTGKI_h_xq0FOMARwLFYICIBcxQSR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Визуализация данных: применение в работе, основные принципы, способы и инструменты для использования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1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1"/>
              </a:rPr>
              <a:t>https://practicum.yandex.ru/blog/vizualizaciya-dannyh/</a:t>
            </a:r>
            <a:endParaRPr sz="1000" b="0" i="0" u="sng" strike="noStrike" cap="none" dirty="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СИМУЛЯТОР SQL = ПРАКТИКА НА РЕАЛЬНЫХ ЗАДАЧАХ —</a:t>
            </a:r>
            <a:r>
              <a:rPr lang="ru-RU" sz="1000" b="0" i="0" u="none" strike="noStrike" cap="none" dirty="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2"/>
              </a:rPr>
              <a:t> </a:t>
            </a:r>
            <a:r>
              <a:rPr lang="ru-RU" sz="100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2"/>
              </a:rPr>
              <a:t>https://karpov.courses/simulator-sql#!/tab/469016097-2</a:t>
            </a: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0" name="Google Shape;850;p9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92"/>
          <p:cNvSpPr txBox="1"/>
          <p:nvPr/>
        </p:nvSpPr>
        <p:spPr>
          <a:xfrm>
            <a:off x="352655" y="1409655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9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ПРИНЯТИЕ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8" name="Google Shape;858;p9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93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управленческих решений в компании, принятых «по интуиции/ощущениям» и «по данным»: какие выводы они содержали, к каким результатам привели.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инструментами формулировки гипотез, проверки причинно-следственных связей, анализа корреляции и причинности.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типичные ошибки в анализе: корреляция, которую принимают за причинность; избирательное использование данных; игнорирование контекста.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структурированного анализа проблем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9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93"/>
          <p:cNvSpPr/>
          <p:nvPr/>
        </p:nvSpPr>
        <p:spPr>
          <a:xfrm>
            <a:off x="372424" y="481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своих задач начать осознанно формулировать гипотезы: что мешает результату, какие данные нужны для проверки гипотезы.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Просить у аналитиков и владельцев отчетов целевые выгрузки под конкретные вопросы, вместо запроса «выгрузите все, что есть».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планерках и совещаниях опираться на цифры и факты: готовить мини-аналитику вместо общих описаний ситуации.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Обсуждать с коллегами выводы, которые делаются из данных, проверяя логику и полноту анализа.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2" name="Google Shape;862;p93"/>
          <p:cNvSpPr/>
          <p:nvPr/>
        </p:nvSpPr>
        <p:spPr>
          <a:xfrm>
            <a:off x="351687" y="429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93"/>
          <p:cNvSpPr/>
          <p:nvPr/>
        </p:nvSpPr>
        <p:spPr>
          <a:xfrm>
            <a:off x="367761" y="730060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data-driven подхода и примерами анализа.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в течение недели свои решения: какие приняты на основе данных, какие «по опыту/интуиции», зафиксировать примеры обоих типов.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сформулировать одну гипотезу («что влияет на результат по моей зоне?») и определить, какие данные нужны для ее проверки.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93"/>
          <p:cNvSpPr/>
          <p:nvPr/>
        </p:nvSpPr>
        <p:spPr>
          <a:xfrm>
            <a:off x="347024" y="6778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9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ПРИНЯТИЕ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9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94"/>
          <p:cNvSpPr/>
          <p:nvPr/>
        </p:nvSpPr>
        <p:spPr>
          <a:xfrm>
            <a:off x="347024" y="2276909"/>
            <a:ext cx="6064351" cy="576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простой набор данных (например, производственные показатели за месяц или отчет по выполнению плана) и выполнить базовый анализ: средние значения, минимумы, максимумы, тренды.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короткий вывод «что видно из этих цифр» и обсудить его с коллегой или руководителем.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обратную связь о логике вывода.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полноценный анализ по реальной задаче: сформулировать гипотезу, определить нужные данные, собрать их, построить 1–2 графика, выявить паттерны, сделать выводы.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результаты анализа для предложения конкретного управленческого решения (изменение процесса, перераспределение ресурсов и т.п.).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результат реализации (произошло ли ожидаемое улучшение?).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на своем участке регулярную аналитику: определить ключевые вопросы, необходимые для управления, установить дашборд или еженедельный отчет.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методы анализа (сравнение периодов, сегментация по категориям, поиск аномалий, анализ тренда) для выявления корневых причин проблем, а не только симптомов.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коллегам формулировать гипотезы и проверять их на данных.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9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9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ПРИНЯТИЕ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9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95"/>
          <p:cNvSpPr/>
          <p:nvPr/>
        </p:nvSpPr>
        <p:spPr>
          <a:xfrm>
            <a:off x="347024" y="22769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Внедрять в команде культуру data-driven решений: требовать и поддерживать использование данных при обсуждении ключевых проблем и принятии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аналитическому мышлению: структуре «вопрос → гипотеза → данные → анализ → вывод → действие».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развитие аналитических инструментов и навыков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9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ИСТОЧНИКОВ ДАННЫХ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ИХ СТРУКТУРЫ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9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0" name="Google Shape;890;p96"/>
          <p:cNvSpPr/>
          <p:nvPr/>
        </p:nvSpPr>
        <p:spPr>
          <a:xfrm>
            <a:off x="347024" y="1895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из каких систем (ERP, MES, CRM, датчики, ручной ввод) и сенсоров поступают ключевые показатели в отчетах подразделения.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базовыми понятиями баз данных: таблица, поле, тип данных, ключ (уникальный идентификатор), связи между таблицами, первичные и агрегированные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вводный курс по структурам БД и основам SQL (на уровне «понимать, что делает простой запрос»).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примеры, когда выбор неправильного источника или неправильное понимание структуры данных привели к ошибочным выводам.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1" name="Google Shape;891;p9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96"/>
          <p:cNvSpPr/>
          <p:nvPr/>
        </p:nvSpPr>
        <p:spPr>
          <a:xfrm>
            <a:off x="372424" y="46137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с аналитиками уточнять, из каких источников формируются данные в дашбордах и отчетах, какие трансформации применяются.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Вместе с владельцем данных просмотреть структуру 1–2 таблиц в системе: какие колонки есть, какие типы данных, какие колонки являются ключами, как таблицы связаны.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конкретный пример, когда неправильное понимание источника или структуры привело к неверным выводам.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найденные несоответствия (например, данные из разных источников не совпадают) и сообщать владельцам систем.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3" name="Google Shape;893;p96"/>
          <p:cNvSpPr/>
          <p:nvPr/>
        </p:nvSpPr>
        <p:spPr>
          <a:xfrm>
            <a:off x="351687" y="4091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4" name="Google Shape;894;p96"/>
          <p:cNvSpPr/>
          <p:nvPr/>
        </p:nvSpPr>
        <p:spPr>
          <a:xfrm>
            <a:off x="367761" y="726347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структуры данных и архитектуры источников.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список ключевых показателей, с которыми вы работаете, и попытаться указать, из каких систем они поступают (хотя бы на уровне предположения).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список у аналитика или ИТ, корректировка свое понимание, зафиксировать правильные источники.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96"/>
          <p:cNvSpPr/>
          <p:nvPr/>
        </p:nvSpPr>
        <p:spPr>
          <a:xfrm>
            <a:off x="347024" y="67410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ИСТОЧНИКОВ ДАННЫХ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ИХ СТРУКТУРЫ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9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97"/>
          <p:cNvSpPr/>
          <p:nvPr/>
        </p:nvSpPr>
        <p:spPr>
          <a:xfrm>
            <a:off x="347024" y="1895909"/>
            <a:ext cx="6064351" cy="73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Открыть простую таблицу данных (Excel-выгрузка из системы) и описать ее структуру: какие есть поля, какие типы данных (текст, число, дата), какое поле является уникальным идентификатором (key), примерные значения.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 помощью коллеги определить, какие поля содержат первичные данные (например, время выполнения операции), а какие — агрегированные (например, сумма за период).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конкретного показателя (например, производительность станка, объем продаж, выработка на одного работника) реконструировать полный «путь данных»: где данные возникают (первичный источник), через какие системы проходят, как преобразуются, где визуализируются.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этот путь в виде схемы или подробного описания и согласовать с владельцем системы или аналитиком.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точки рисков (где данные могут быть неправильно интерпретированы).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с архитекторами данных и аналитиками о структуре и качестве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Давать обратную связь, где текущая структура источников мешает корректной интерпретации показателей (например, отсутствует необходимое поле для фильтрации).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Предлагать улучшения: какие новые поля добавить, какие трансформации применить, чтобы повысить прозрачность и точность показателей.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структуру данных для новых задач и решений: определять, какие поля нужны, из каких источников их брать, как они должны быть связаны, какие трансформации применять.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по выбору и интерпретации источников данных, предотвращая ошибки и дублирования.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рекомендации и стандарты по работе с источниками данных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9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98"/>
          <p:cNvSpPr/>
          <p:nvPr/>
        </p:nvSpPr>
        <p:spPr>
          <a:xfrm>
            <a:off x="322479" y="377609"/>
            <a:ext cx="6209233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ТРЕБОВАНИЙ К ДАННЫМ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ПОСТАНОВКА ЗАПРОСОВ НА ВЫГРУЗКИ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9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2" name="Google Shape;912;p98"/>
          <p:cNvSpPr/>
          <p:nvPr/>
        </p:nvSpPr>
        <p:spPr>
          <a:xfrm>
            <a:off x="347024" y="1895909"/>
            <a:ext cx="6064351" cy="376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типовые шаблоны заявок на выгрузку данных и настройку отчетов 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Ознакомляться с примерами «хороших» и «плохих» запросов аналитикам: что в них содержится, чем они отличаются, как они влияют на время и качество исполнения.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базовые принципы описания требований: какие атрибуты, периодичность, фильтры и разрезы обычно нужны для решения конкретных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успешного взаимодействия с аналитиками в компании. Развитие на рабочем месте (20%)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формулировать запросы на данные в структурированном виде: какая цель, какой вопрос нужно ответить, какие поля (колонки) нужны, за какой период, какие фильтры/разрезы, какой формат вывода.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обсуждать с аналитиками, какие данные реально доступны, какие есть ограничения по качеству/частоте/точности, сколько времени займет реализация.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согласовании регулярного (еженедельного/ежемесячного) отчета: совместно определить, какие показатели и разрезы нужны для управления.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полученные выгрузки и отчеты: соответствуют ли они требованиям, нет ли ошибок.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9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98"/>
          <p:cNvSpPr/>
          <p:nvPr/>
        </p:nvSpPr>
        <p:spPr>
          <a:xfrm>
            <a:off x="372424" y="6429809"/>
            <a:ext cx="6064351" cy="23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структурированный шаблон требований к данным (цель, вопрос, поля, период, фильтры, формат) при постановке любых рабочих задач.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полученных выгрузок, выявлять несоответствия и уточнять их с аналитиками.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обновлять требования к данным при изменении процессов, показателей или управленческих задач.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настройке регулярных выгрузок подразделения: определять нужные показатели, фильтры и периодичность.</a:t>
            </a:r>
            <a:b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190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коллегам формулировать корректные запросы и давать обратную связь по их описанию требований.</a:t>
            </a: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8"/>
              <a:buFont typeface="Montserrat"/>
              <a:buNone/>
            </a:pPr>
            <a:endParaRPr sz="99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98"/>
          <p:cNvSpPr/>
          <p:nvPr/>
        </p:nvSpPr>
        <p:spPr>
          <a:xfrm>
            <a:off x="351687" y="5907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99"/>
          <p:cNvSpPr/>
          <p:nvPr/>
        </p:nvSpPr>
        <p:spPr>
          <a:xfrm>
            <a:off x="322479" y="377609"/>
            <a:ext cx="6209233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ТРЕБОВАНИЙ К ДАННЫМ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ПОСТАНОВКА ЗАПРОСОВ НА ВЫГРУЗКИ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9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99"/>
          <p:cNvSpPr/>
          <p:nvPr/>
        </p:nvSpPr>
        <p:spPr>
          <a:xfrm>
            <a:off x="347024" y="1895909"/>
            <a:ext cx="6064351" cy="714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концепцией структурированного описания требований.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одну потребность в данных в свободной форме (как обычно), а затем переписать ее по шаблону: цель, вопрос, необходимые поля, период, фильтры, формат.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две версии, увидеть разницу в ясности.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1–2 структурированных запроса на выгрузку данных для реальной задачи, указав цель, период, ключевые поля, формат (Excel, PDF, ссылка на дашборд).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выгрузку, сверить: все ли нужные атрибуты были включены, правильно ли применены фильтры, правильно ли рассчитаны показатели.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Скорректировать шаблон запроса с учетом полученного опыта.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типовой задачи подразделения (например, анализ производительности участка или выполнения плана) подробно описать требования к данным: источники, необходимые поля, частота обновления, разрезы анализа (по видам работ, сменам, исполнителям), критерии фильтрации.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аналитиком настроить регулярную выгрузку или отчет и задокументировать требования.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выгрузку в работе в течение месяца, собрать обратную связь, скорректировать при необходимости.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сложный запрос на выгрузку (несколько источников, многоуровневые фильтры, агрегирование, расчет производных показателей) и описать его так, чтобы аналитик смог реализовать без дополнительных уточнений.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механизм регулярных выгрузок/отчетов с определенным SLA (например, каждый пн. к 9:00) и форматом передачи.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обучение команды использованию выгрузок.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9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0"/>
          <p:cNvSpPr/>
          <p:nvPr/>
        </p:nvSpPr>
        <p:spPr>
          <a:xfrm>
            <a:off x="322479" y="377609"/>
            <a:ext cx="6312171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ТРЕБОВАНИЙ К ДАННЫМ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ПОСТАНОВКА ЗАПРОСОВ НА ВЫГРУЗКИ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0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10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100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и шаблоны описания требований к данным для своей функции: типовые структуры запросов, примеры хороших описаний, чек-листы.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постановке корректных и полных запросов, помогать им взаимодействовать с аналитиками.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требования к данным для новых цифровых решений, участвовать в описании ТЗ для аналитиков.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0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КАЧЕСТВА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ДОСТОВЕРНОСТИ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0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101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базовые подходы к валидации данных: проверки на полноту (нет ли пропусков), диапазоны значений (находятся ли в допустимых границах), дубликаты, логические несоответствия (например, дата окончания раньше даты начала).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примерами инцидентов в компании, когда ошибки в данных привели к неверным управленческим решениям или сбоям в процессах.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простые инструменты проверки в Excel (фильтры, условное форматирование, формулы, сводные таблицы) и BI-системах (встроенные проверки, алерты).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типовые источники ошибок: ручной ввод, интеграционные сбои, ошибки трансформации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10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101"/>
          <p:cNvSpPr/>
          <p:nvPr/>
        </p:nvSpPr>
        <p:spPr>
          <a:xfrm>
            <a:off x="372424" y="47407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любым отчетом или выгрузкой практиковать «здравый смысл»: задавать себе вопрос «выглядит ли это правдоподобно?», сравнивать с предыдущими периодами и ожиданиями.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с аналитиком минимальный набор проверок, которые нужно делать перед использованием данных (например, сумма не может быть отрицательной, количество не может быть дробным).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найденные ошибки и аномалии в единый лог, сообщать владельцам систем/данных, отслеживать исправление.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о качестве данных, предлагать способы предотвращения типичных ошибок.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4" name="Google Shape;944;p101"/>
          <p:cNvSpPr/>
          <p:nvPr/>
        </p:nvSpPr>
        <p:spPr>
          <a:xfrm>
            <a:off x="351687" y="4218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101"/>
          <p:cNvSpPr/>
          <p:nvPr/>
        </p:nvSpPr>
        <p:spPr>
          <a:xfrm>
            <a:off x="367761" y="756827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 подходами к валидации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один регулярный отчет (например, производственный или финансовый) и проверить его на очевидные ошибки: пустые поля, явно аномальные значения, невозможные комбинации (например, отрицательные объемы).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найденные проблемы.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01"/>
          <p:cNvSpPr/>
          <p:nvPr/>
        </p:nvSpPr>
        <p:spPr>
          <a:xfrm>
            <a:off x="347024" y="7045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0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КАЧЕСТВА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ДОСТОВЕРНОСТИ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0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4" name="Google Shape;954;p102"/>
          <p:cNvSpPr/>
          <p:nvPr/>
        </p:nvSpPr>
        <p:spPr>
          <a:xfrm>
            <a:off x="347024" y="1895909"/>
            <a:ext cx="6064351" cy="745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одной выгрузки данных выполнить набор проверок: на дубликаты (каких-то строк), пропуски (пустые ячейки), некорректные форматы (дата в виде текста вместо даты, числа с разделителями вместо точки).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 найденные ошибки, указав, где они локализуются, и предложить способы ручного исправления.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результаты с аналитиком.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регулярную валидацию одного ключевого набора данных (например, показатели производительности за день или план vs. факт).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перечень проверок, периодичность (ежедневно, еженедельно), ответственного.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результаты валидации для улучшения качества: добавлять фильтры в отчеты, корректировать источники, исправлять данные у источника.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типичные и систематические ошибки в данных: где они возникают, почему, как часто.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изменения в процессах или в конфигурации систем для предотвращения ошибок (например, настроить проверку в форме ввода, наладить интеграцию вместо ручного переноса).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и реализовать небольшой проект по улучшению качества данных в своей зоне ответственности.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и внедрить систему контроля качества данных для функции/подразделения: набор правил валидации, SLA по качеству (например, 98% точности), инструменты мониторинга, процесс обработки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культуре работы с чистыми и достоверными данными, методам и инструментам валидации.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практику контроля качества в подразделении, отслеживать метрики качества.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0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 АНАЛИТИКИ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ПРИНЯТИЯ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0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103"/>
          <p:cNvSpPr/>
          <p:nvPr/>
        </p:nvSpPr>
        <p:spPr>
          <a:xfrm>
            <a:off x="347024" y="1895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материалы по интерпретации графиков, трендов, сезонности, аномалий в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примерами управленческих решений, принятых на основе аналитики: как формулируется вывод, какое действие следует.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кейсы типичных ошибок: поспешные выводы, игнорирование контекста, неправильная интерпретация корреляции.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подход «вопрос → данные → вывод → действие» при чтении отчетов.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4" name="Google Shape;964;p10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5" name="Google Shape;965;p103"/>
          <p:cNvSpPr/>
          <p:nvPr/>
        </p:nvSpPr>
        <p:spPr>
          <a:xfrm>
            <a:off x="372424" y="42708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отчетами всегда формулировать для себя: «какой управленческий вопрос я хочу на них ответить».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планерках и совещаниях отрабатывать навык: сначала показать график/цифры, потом сформулировать вывод, затем предложить действие.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отклонений: предлагать гипотезы причин, уточнять, какие дополнительные данные нужны для проверки.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Фиксировать, к каким результатам привели принятые на основе анализа решения.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6" name="Google Shape;966;p103"/>
          <p:cNvSpPr/>
          <p:nvPr/>
        </p:nvSpPr>
        <p:spPr>
          <a:xfrm>
            <a:off x="351687" y="3748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7" name="Google Shape;967;p103"/>
          <p:cNvSpPr/>
          <p:nvPr/>
        </p:nvSpPr>
        <p:spPr>
          <a:xfrm>
            <a:off x="367761" y="6691974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интерпретации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один регулярный отчет и выписать 3 факта, которые из него видны (без интерпретации и выводов).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факты с коллегой.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103"/>
          <p:cNvSpPr/>
          <p:nvPr/>
        </p:nvSpPr>
        <p:spPr>
          <a:xfrm>
            <a:off x="347024" y="61695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0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 АНАЛИТИКИ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ПРИНЯТИЯ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0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104"/>
          <p:cNvSpPr/>
          <p:nvPr/>
        </p:nvSpPr>
        <p:spPr>
          <a:xfrm>
            <a:off x="347024" y="1895909"/>
            <a:ext cx="6064351" cy="65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отчета по своей зоне ответственности описать, где есть отклонения от планов, норм, ожиданий.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2–3 простые гипотезы причин этих отклонений (без глубокого анализа).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гипотезы с руководителем и коллегами, собрать их мнение.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мини-анализ по конкретной проблеме: показать график/цифры, сформулировать вывод, предложить конкретное управленческое действие.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этот анализ на рабочей встрече (планерке, совещании).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принятое решение и результат его реализации.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готовить аналитические записки по ключевым KPI: описать динамику, выявить причины отклонений, предложить корректировку.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данные для выбора между альтернативными решениями (например, какой вариант оптимизации процесса выбрать).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Фиксировать, к чему привел каждый выбор, учиться на результатах.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команду интерпретации аналитики: проводить разбор отчетов, учить формулировать выводы и действия.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процессы управления так, чтобы решения системно опирались на анализ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Выявлять, где в компании принимаются решения без достаточных данных, и инициировать улучшения.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0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0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САМОСТОЯТЕЛЬНОЕ ИСПОЛЬЗОВАНИЕ ИНСТРУМЕНТОВ АВТОМАТИЗАЦИИ (EXCEL/VBA, VISIOLOGY, ФОРСАЙТ И ДР.)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10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105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продвинутые функции Excel: формулы (VLOOKUP, INDEX/MATCH, ЕСЛИ и др.), сводные таблицы, условное форматирование, защита листов.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возможности Visiology/Форсайта для построения автоматических отчетов и визуализации.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материалами по VBA/макросам: понять, какие рутинные задачи можно автоматизировать, примеры простых макросов.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готовых шаблонов и решений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10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105"/>
          <p:cNvSpPr/>
          <p:nvPr/>
        </p:nvSpPr>
        <p:spPr>
          <a:xfrm>
            <a:off x="372424" y="46518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Найти в своей работе рутинные задачи, которые занимают время и повторяются (копирование, сверка, формирование типовых отчетов, консолидация данных).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реализовать 1–2 небольших автоматизации с помощью формул или простых макросов и использовать их в ежедневной работе.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Обмениваться с коллегами готовыми шаблонами, макросами, решениями, документировать их.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об автоматизации, предлагать идеи.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105"/>
          <p:cNvSpPr/>
          <p:nvPr/>
        </p:nvSpPr>
        <p:spPr>
          <a:xfrm>
            <a:off x="351687" y="4129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105"/>
          <p:cNvSpPr/>
          <p:nvPr/>
        </p:nvSpPr>
        <p:spPr>
          <a:xfrm>
            <a:off x="367761" y="7059304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возможностями инструментов автоматизации.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Идентифицировать одну рутинную операцию в своей работе, которая регулярно отнимает время.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сократить количество ручных шагов с помощью стандартных функций Excel (формулы вместо ручных расчетов, фильтры вместо ручного отбора, сводные таблицы).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105"/>
          <p:cNvSpPr/>
          <p:nvPr/>
        </p:nvSpPr>
        <p:spPr>
          <a:xfrm>
            <a:off x="347024" y="65368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0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САМОСТОЯТЕЛЬНОЕ ИСПОЛЬЗОВАНИЕ ИНСТРУМЕНТОВ АВТОМАТИЗАЦИИ (EXCEL/VBA, VISIOLOGY, ФОРСАЙТ И ДР.)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0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106"/>
          <p:cNvSpPr/>
          <p:nvPr/>
        </p:nvSpPr>
        <p:spPr>
          <a:xfrm>
            <a:off x="347024" y="22769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готовый шаблон отчета или простой макрос от коллег и адаптировать под свою задачу (изменить источник данных, настроить фильтры).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базовый шаблон Excel с формулами, который можно использовать повторно для похожих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 шаблон: что в нем считается, как его использовать, какие есть ограничения.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собственный макрос или полуавтоматизированный отчет (например, кнопка «обновить», которая пересчитывает сводные таблицы), который закрывает повторяющуюся задачу.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Задокументировать, как им пользоваться, создать мини-инструкцию.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Передать решение коллеге и убедиться, что он может им пользоваться.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Visiology/Форсайт для настройки автоматических отчетов: подключить источники данных, настроить регулярное обновление, создать визуализации.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несколько процессов подразделения за счет автоматизации: сократить ручной труд (например, с 4 часов до 30 минут в неделю), избежать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Измерить эффект: экономия времени, качество, скорость получения результатов.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набор стандартных автоматизированных решений для команды: типовые шаблоны, макросы, отчеты.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работе с инструментами автоматизации, помогать адаптировать решения под их задачи.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Продвигать культуру «сначала автоматизация — потом ручная работа» в подразделении.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0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07"/>
          <p:cNvSpPr/>
          <p:nvPr/>
        </p:nvSpPr>
        <p:spPr>
          <a:xfrm>
            <a:off x="368305" y="786784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ИНСТРУМЕНТАЛЬНЫЕ НАВЫКИ ЦИФРОВОГО СОТРУДНИКА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6" name="Google Shape;1006;p107"/>
          <p:cNvSpPr txBox="1"/>
          <p:nvPr/>
        </p:nvSpPr>
        <p:spPr>
          <a:xfrm>
            <a:off x="589000" y="2945025"/>
            <a:ext cx="5622300" cy="5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Skillbox: Курс по RPA UiPath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https://skillbox.ru/course/rpa-uipath/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Нетология: Автоматизация и RPA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https://netology.ru/programs/rpa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Учебник — Primo RPA: Официальные учебники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https://docs.primo-rpa.ru/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Business Process Change: A Guide for Business Managers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Business Process Management Cases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Digital Transformation with Business Process Management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RPA: Robotic Process Automation Handbook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Что представляет собой искусственный интеллект (ИИ)?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https://habr.com/ru/articles/710350/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Спросили нейросеть Алиса: как правильно писать промпты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https://practicum.yandex.ru/blog/kak-pravilno-pisat-promty-dlya-neyroseti/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Искусство общения с LLM: Гайд по техникам Prompt Engineering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https://habr.com/ru/articles/827546/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Статья — Чат-боты окружают нас повсюду, но не нарушают ли они нашу конфиденциальность?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https://www.kaspersky.ru/resource-center/preemptive-safety/chatbots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7" name="Google Shape;1007;p10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8" name="Google Shape;1008;p107"/>
          <p:cNvSpPr txBox="1"/>
          <p:nvPr/>
        </p:nvSpPr>
        <p:spPr>
          <a:xfrm>
            <a:off x="427069" y="2257976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08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RPA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10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6" name="Google Shape;1016;p108"/>
          <p:cNvSpPr/>
          <p:nvPr/>
        </p:nvSpPr>
        <p:spPr>
          <a:xfrm>
            <a:off x="347024" y="14514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углубленный курс или видеолекции по RPA: что такое программный робот, какие типы задач автоматизируются, чем RPA отличается от классического программирования.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RPA-кейсов в компании или отрасли: какие процессы роботизировали, как считали эффект (сэкономленные FTE, снижение ошибок, ускорение цикла).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требования к описанию процесса для роботизации: входы, выходы, правила, исключения, граничные случаи.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успешных и неудачных RPA-проектов, выявлять причины.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7" name="Google Shape;1017;p108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8" name="Google Shape;1018;p108"/>
          <p:cNvSpPr/>
          <p:nvPr/>
        </p:nvSpPr>
        <p:spPr>
          <a:xfrm>
            <a:off x="372424" y="41692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на своем участке рутинные, формализуемые процессы-кандидаты для RPA (повторяющиеся операции, работа в нескольких системах «по шаблону», ручной ввод).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встречах с командой RPA: задавать вопросы, уточнять, какие данные и правила нужны для роботизации, какие будут результаты.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на себя роль «представителя бизнеса» в одном из RPA-кейсов: помогать уточнять логику процесса, тестировать работу робота, фиксировать достигнутый эффект.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108"/>
          <p:cNvSpPr/>
          <p:nvPr/>
        </p:nvSpPr>
        <p:spPr>
          <a:xfrm>
            <a:off x="351687" y="36467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0" name="Google Shape;1020;p108"/>
          <p:cNvSpPr/>
          <p:nvPr/>
        </p:nvSpPr>
        <p:spPr>
          <a:xfrm>
            <a:off x="367761" y="6590374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 примерами RPA.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Зафиксировать, с какими роботами уже работает ваше подразделение, какие именно задачи они выполняют.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Понаблюдать, как коллеги используют результаты работы роботов (отчеты, выгрузки), выявить, где вы тоже можете их применять.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108"/>
          <p:cNvSpPr/>
          <p:nvPr/>
        </p:nvSpPr>
        <p:spPr>
          <a:xfrm>
            <a:off x="347024" y="60679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0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8" name="Google Shape;1028;p109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RPA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9" name="Google Shape;1029;p109"/>
          <p:cNvSpPr/>
          <p:nvPr/>
        </p:nvSpPr>
        <p:spPr>
          <a:xfrm>
            <a:off x="347024" y="14514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Научиться стабильно использовать результаты RPA в своей работе (например, брать автоматические отчеты/выгрузки от робота вместо ручной подготовки).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в простой форме один свой процесс, который потенциально можно роботизировать: последовательность шагов, частота выполнения, вовлеченные системы, исключения.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этот процесс с аналитиком RPA.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командой RPA формализовать 1–2 процесса для роботизации: выделить все шаги, условия, варианты ошибок, входные и выходные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оценке потенциального эффекта: посчитать экономия времени (FTE), снижение числа ошибок, ускорение цикла.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приоритеты роботизации с руководством.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небольшой RPA-кейс от идеи до запуска в production: сопровождать уточнение требований, участвовать в тестировании робота, фиксировать дефекты и замечания.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мониторинг результатов работы робота на своем участке: отслеживать сбои, ошибки, недопоставки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анализировать эти данные, предлагать доработки робота.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портфель RPA-инициатив в подразделении: выявлять новые процессы-кандидаты, оценивать их потенциал, помогать расставлять приоритеты на основе эффекта и сложности.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логике отбора процессов под RPA и описанию процессов для роботизации.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культуру: «роботы делают рутину, люди создают ценность».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09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10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BPM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7" name="Google Shape;1037;p11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110"/>
          <p:cNvSpPr/>
          <p:nvPr/>
        </p:nvSpPr>
        <p:spPr>
          <a:xfrm>
            <a:off x="347024" y="14514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BPM-подхода: что такое цифровой маршрут, согласование, задачи, статусы, SLA (Service Level Agreement), эскалация.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интерфейсом используемой BPM-системы (например, 1С, Bizagi, Bonita): основные сущности, карточки задач, маршруты, отчеты.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1–2 внутренних кейса по запуску цифровых маршрутов: какой процесс оцифровали, какие были трудности, какой эффект получили.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хороших и плохих маршрутов: где логика ясна, где запутано.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9" name="Google Shape;1039;p110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0" name="Google Shape;1040;p110"/>
          <p:cNvSpPr/>
          <p:nvPr/>
        </p:nvSpPr>
        <p:spPr>
          <a:xfrm>
            <a:off x="372424" y="38263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тестировании нового маршрута: выполнять задачи как обычный пользователь, фиксировать неудобства, непонятные статусы, задержки.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Вместе с методологом/аналитиком описать один небольшой процесс (согласования, заявки, типовой маршрут), который логично перевести в BPM.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доработке существующих маршрутов: формулировать предложения по изменению шагов, ролей, SLA.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1" name="Google Shape;1041;p110"/>
          <p:cNvSpPr/>
          <p:nvPr/>
        </p:nvSpPr>
        <p:spPr>
          <a:xfrm>
            <a:off x="351687" y="3303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2" name="Google Shape;1042;p110"/>
          <p:cNvSpPr/>
          <p:nvPr/>
        </p:nvSpPr>
        <p:spPr>
          <a:xfrm>
            <a:off x="367761" y="600617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интерфейсом BPM-системы.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несколько задач в системе, чтобы понимать, как она работает.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Научиться видеть, на каком этапе находится ваша заявка/задача, у кого «мяч», что ждут от вас.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пилоте нового маршрута как тестовый пользователь: проходить весь путь в системе, отмечать, где логика не очевидна, где есть ошибки.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свои замечания и предложения по улучшению маршрута: формы, статусы, уведомления, условия переходов.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Передать обратную связь команде проекта.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10"/>
          <p:cNvSpPr/>
          <p:nvPr/>
        </p:nvSpPr>
        <p:spPr>
          <a:xfrm>
            <a:off x="347024" y="54837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1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0" name="Google Shape;1050;p111"/>
          <p:cNvSpPr/>
          <p:nvPr/>
        </p:nvSpPr>
        <p:spPr>
          <a:xfrm>
            <a:off x="322480" y="377609"/>
            <a:ext cx="5966608" cy="39382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ВЛАДЕНИЕ ТЕХНОЛОГИЕЙ BPM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1" name="Google Shape;1051;p111"/>
          <p:cNvSpPr/>
          <p:nvPr/>
        </p:nvSpPr>
        <p:spPr>
          <a:xfrm>
            <a:off x="347024" y="1451409"/>
            <a:ext cx="6064351" cy="484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методологом настроить или скорректировать простой маршрут (например, процесс согласования типового документа или подачи заявки).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Проверить, что маршрут отражает реальный процесс: роли и шаги соответствуют фактическим действиям, логика условных переходов правильна.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маршрут в пилоте в своем отделе.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оптимизацию одного ключевого процесса через BPM: упростить шаги, убрать лишние согласования, добавить контрольные точки, настроить SLA.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мониторинг выполнения маршрута: время прохождения, процент просрочек, количество возвратов на доработку.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данных мониторинга предложить улучшения.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Развивать практику BPM в подразделении: формировать список процессов-кандидатов на оцифровку, стандарты маршрутов, типовые шаблоны.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работе с BPM-системами, объяснять связь маршрутов с эффективностью, качеством и прозрачностью процессов.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развитие портфеля цифровых маршрутов, отслеживать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11"/>
          <p:cNvSpPr/>
          <p:nvPr/>
        </p:nvSpPr>
        <p:spPr>
          <a:xfrm>
            <a:off x="326287" y="9289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1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ЦИФРОВЫХ ИНСТРУМЕНТОВ МЕЖДУ СОБОЙ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(BI → RPA → BPM → ERP)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9" name="Google Shape;1059;p11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0" name="Google Shape;1060;p112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какие ключевые цифровые системы используются в компании (ERP, CRM, MES, BI, RPA, BPM) и как они в целом связаны.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>
                <a:latin typeface="Montserrat"/>
                <a:ea typeface="Montserrat"/>
                <a:cs typeface="Montserrat"/>
                <a:sym typeface="Montserrat"/>
              </a:rPr>
              <a:t>Ознакомиться</a:t>
            </a: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 примерами «сквозных цепочек»: от ввода данных в первичную систему до BI-отчета, запуска робота или БПМ-маршрута.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концепцию «данные один раз — много использований»: почему важно избегать ручного переноса и дублирования данных между системами.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типичных ошибок интеграции: разрывы в цепочке, потеря данных, рассинхронизация.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1" name="Google Shape;1061;p11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112"/>
          <p:cNvSpPr/>
          <p:nvPr/>
        </p:nvSpPr>
        <p:spPr>
          <a:xfrm>
            <a:off x="372424" y="47280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своем участке описать, в каких системах возникают данные, как они дальше «перетекают» и где используются для решения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новых интеграций или цифровых решений: формулировать требования к тому, какие данные и в какие системы должны уходить.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устранение хотя бы одного ручного «прокидывания» данных между системами (Excel, ручной ввод), предложив сквозную автоматизированную цепочку.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и обсуждать проблемы интеграций с IT и аналитиками.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112"/>
          <p:cNvSpPr/>
          <p:nvPr/>
        </p:nvSpPr>
        <p:spPr>
          <a:xfrm>
            <a:off x="351687" y="42055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112"/>
          <p:cNvSpPr/>
          <p:nvPr/>
        </p:nvSpPr>
        <p:spPr>
          <a:xfrm>
            <a:off x="367761" y="7135504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концепциями интеграции и сквозных цепочек.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для себя список используемых инструментов (Excel, ERP, портал, BI, RPA, BPM) и описать, для чего каждый используется.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Обратить внимание, где вы вручную переносите данные из одной системы в другую.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5" name="Google Shape;1065;p112"/>
          <p:cNvSpPr/>
          <p:nvPr/>
        </p:nvSpPr>
        <p:spPr>
          <a:xfrm>
            <a:off x="347024" y="66130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ЦИФРОВЫХ ИНСТРУМЕНТОВ МЕЖДУ СОБОЙ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(BI → RPA → BPM → ERP)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2" name="Google Shape;1072;p11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3" name="Google Shape;1073;p113"/>
          <p:cNvSpPr/>
          <p:nvPr/>
        </p:nvSpPr>
        <p:spPr>
          <a:xfrm>
            <a:off x="347024" y="2276909"/>
            <a:ext cx="6064351" cy="561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простую схему «как сейчас» для одной типовой задачи: где берутся исходные данные, где они обрабатываются, где визуализируются.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встрече с аналитиком или IT уточнить, какие интеграции уже существуют и какие разрывы остаются.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рабочую цепочку «выгрузка → обработка → визуализация» с минимальным количеством ручных шагов (например, ERP → RPA → BI).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эту цепочку и поделиться с командой, чтобы другие тоже могли ей пользоваться.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Измерить экономию времени.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один сквозной процесс за счет интеграции инструментов: убрать ручной ввод, настроить обмен данными между системами.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изменения с IT/архитекторами, протестировать новый сквозной маршрут, зафиксировать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цифровой ландшафт своего направления: определять, какие системы и как должны быть связаны, чтобы поддерживать бизнес-процессы.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архитектурных сессиях, предлагать решения по устранению фрагментации и дублирования функций между системами.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1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1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ТЕСТИРОВАНИЕ ПРОСТЫХ ЦИФРОВЫХ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(LOW-CODE / NO-CODE)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1" name="Google Shape;1081;p11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114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какие low-code / no-code платформы доступны в компании (конструкторы форм, чат-ботов, приложений, внутренних сервисов, мобильных приложений).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базовый обучающий курс или документацию по одной из платформ: как создавать формы, сценарии, простые интерфейсы, настраивать логику.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уже созданных в компании no-code решений: какие задачи они закрывают, как они работают.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типичные ошибки при разработке: плохой UX, отсутствие валидации, недостаток гибкости.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3" name="Google Shape;1083;p11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114"/>
          <p:cNvSpPr/>
          <p:nvPr/>
        </p:nvSpPr>
        <p:spPr>
          <a:xfrm>
            <a:off x="372424" y="4829609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Найти одну-две небольшие задачи, которые можно решить no-code (анкета для сбора данных, мини-сервис согласования, простая автоматизация заявки, чат-бот с часто задаваемыми вопросами).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Присоединиться к группе коллег, которые уже используют конструкторы, попросить показать живые примеры и подходы.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тестировании no-code решений других сотрудников: давать обратную связь по интерфейсу, удобству, логике.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114"/>
          <p:cNvSpPr/>
          <p:nvPr/>
        </p:nvSpPr>
        <p:spPr>
          <a:xfrm>
            <a:off x="351687" y="4307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114"/>
          <p:cNvSpPr/>
          <p:nvPr/>
        </p:nvSpPr>
        <p:spPr>
          <a:xfrm>
            <a:off x="367761" y="7135504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интерфейсом и возможностями выбранной платформы.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Зарегистрироваться / получить доступ и пройти интерактивное обучение.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собрать самый простой прототип (например, форму с 2–3 полями) и проверить, как он работает.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114"/>
          <p:cNvSpPr/>
          <p:nvPr/>
        </p:nvSpPr>
        <p:spPr>
          <a:xfrm>
            <a:off x="347024" y="66130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1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И ТЕСТИРОВАНИЕ ПРОСТЫХ ЦИФРОВЫХ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(LOW-CODE / NO-CODE)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11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5" name="Google Shape;1095;p115"/>
          <p:cNvSpPr/>
          <p:nvPr/>
        </p:nvSpPr>
        <p:spPr>
          <a:xfrm>
            <a:off x="347024" y="2276909"/>
            <a:ext cx="6064351" cy="622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Взять готовый шаблон или пример из библиотеки платформы и адаптировать его под свою задачу (изменить поля, сообщения, логику условных переходов).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мини-тест: дать 2–3 коллегам воспользоваться прототипом, собрать обратную связь. Скорректировать прототип с учетом замечаний.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работающий прототип решения для конкретного процесса (заявка, сбор данных, уведомления, простой расчет).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базовое тестирование: проверить все позитивные и негативные сценарии.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ограничения прототипа, сформулировать, чего не хватает для полноценного production-решения.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небольшой процесс с помощью no-code: заменить Excel+почту на простое приложение / сервис с интеграцией в системы.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пилот использования решения в команде, поддержать пользователей, собрать и учесть обратную связь.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в регулярное использование.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использование low-code/no-code в подразделении: помогать коллегам формулировать задачи, выбирать платформу, проверять прототипы.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библиотеку типовых no-code решений и рекомендаций, чтобы команды могли быстро собирать свои сервисы.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инструментам и подходам.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1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1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С ЦИФРОВЫМИ АССИСТЕНТАМИ И ИИ-СЕРВИСАМИ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1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116"/>
          <p:cNvSpPr/>
          <p:nvPr/>
        </p:nvSpPr>
        <p:spPr>
          <a:xfrm>
            <a:off x="347024" y="1895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Изучать, какие корпоративные ассистенты и ИИ-сервисы доступны (чат-боты, помощники в информационных системах, инструменты генерации текста/отчетов/аналитики).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базовыми принципами промпт-инжиниринга: как формулировать запросы к ИИ, чтобы получать точные, безопасные и полезные ответы.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Прочитать рекомендации компании по безопасному использованию ИИ (какие данные можно / нельзя передавать, ограничения, риски).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удачного и неудачного использования ИИ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11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6" name="Google Shape;1106;p116"/>
          <p:cNvSpPr/>
          <p:nvPr/>
        </p:nvSpPr>
        <p:spPr>
          <a:xfrm>
            <a:off x="372424" y="43978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использовать ИИ для реальных рабочих задач: черновики писем, структурирование информации, идеи улучшений, поиск аналогов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Делиться с коллегами удачными примерами запросов и результатов, формировать мини-библиотеку промптов для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внедрения ИИ-инструментов: давать обратную связь, где они реально помогают, а где мешают.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16"/>
          <p:cNvSpPr/>
          <p:nvPr/>
        </p:nvSpPr>
        <p:spPr>
          <a:xfrm>
            <a:off x="351687" y="38753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116"/>
          <p:cNvSpPr/>
          <p:nvPr/>
        </p:nvSpPr>
        <p:spPr>
          <a:xfrm>
            <a:off x="367761" y="6476074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доступными ИИ-сервисами и их возможностями.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Попробовать использовать один ИИ-сервис для простой задачи (сформулировать письмо, резюмировать текст, переформулировать идею).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 результат и свои впечатления: что получилось хорошо, что нужно доработать.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116"/>
          <p:cNvSpPr/>
          <p:nvPr/>
        </p:nvSpPr>
        <p:spPr>
          <a:xfrm>
            <a:off x="347024" y="59536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ВЗАИМОДЕЙСТВИЕ С ЦИФРОВЫМИ АССИСТЕНТАМИ И ИИ-СЕРВИСАМИ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11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117"/>
          <p:cNvSpPr/>
          <p:nvPr/>
        </p:nvSpPr>
        <p:spPr>
          <a:xfrm>
            <a:off x="347024" y="1895909"/>
            <a:ext cx="6064351" cy="699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формулировать простые, но конкретные запросы к ИИ по рабочим задачам (структурировать список, накидать идеи, сделать черновик документа, выделить основные пункты).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ответы с ожидаемым результатом, дорабатывать запросы и фиксировать наиболее удачные формулировки.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ИИ для ускорения рабочих процессов.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ИИ для анализа данных и документов: попросить структурировать таблицу, выделить паттерны в тексте, предложить гипотезы.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Оценивать релевантность и качество ответов, самостоятельно вносить корректировки, не полагаясь на ИИ как на «истину».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информацию из ИИ по надежным источникам, особенно в критичных задачах.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продвинутые техники промпт-инжиниринга (ролевая постановка, поэтапные инструкции, работа с контекстом, примеры) и применять их в сложных задачах.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Встроить ИИ в процессы команды (например, подготовка первых версий отчетов, резюме встреч, черновики требований).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единые правила использования и безопасности.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работе с ИИ: проводить мини-обучения, разбирать запросы и результаты, формировать лучшие практики.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разработке и внедрении корпоративных стандартов и политик по использованию ИИ в подразделении.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Отслеживать риски и эффекты применения 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1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8"/>
          <p:cNvSpPr/>
          <p:nvPr/>
        </p:nvSpPr>
        <p:spPr>
          <a:xfrm>
            <a:off x="445655" y="3267734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АРХИТЕКТУРНОГО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СТРАТЕГИЧЕСКОГО ВЗГЛЯДА НА ЦИФРОВУЮ ЭКОСИСТЕМУ КОМПАНИИ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5" name="Google Shape;1125;p11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9"/>
          <p:cNvSpPr/>
          <p:nvPr/>
        </p:nvSpPr>
        <p:spPr>
          <a:xfrm>
            <a:off x="535450" y="704850"/>
            <a:ext cx="56628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ТЕХНОЛОГИЧЕСКАЯ ГРАМОТНОСТЬ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АРХИТЕКТУРА ИС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11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3" name="Google Shape;1133;p119"/>
          <p:cNvSpPr txBox="1"/>
          <p:nvPr/>
        </p:nvSpPr>
        <p:spPr>
          <a:xfrm>
            <a:off x="535450" y="2909325"/>
            <a:ext cx="5767800" cy="57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Skillbox: Архитектура микросервисов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https://skillbox.ru/course/microservices-architecture/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ВШЭ: Архитектура ИС и облако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https://hse.ru/edu/dpo/898841647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Яндекс: Архитектура больших систем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https://practicum.yandex.ru/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Учебник — 4CIO Клуб: Учебник ИТ-директора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https://book4cio.ru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119"/>
          <p:cNvSpPr txBox="1"/>
          <p:nvPr/>
        </p:nvSpPr>
        <p:spPr>
          <a:xfrm>
            <a:off x="799139" y="2317507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20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БЕЗОПАСНОЙ ИНТЕГРАЦИИ БИЗНЕС-ИНСТРУМЕНТОВ И ТЕХНОЛОГИЙ В КОРПОРАТИВНЫЙ КОНТУР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1" name="Google Shape;1141;p12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2" name="Google Shape;1142;p120"/>
          <p:cNvSpPr/>
          <p:nvPr/>
        </p:nvSpPr>
        <p:spPr>
          <a:xfrm>
            <a:off x="347024" y="2276909"/>
            <a:ext cx="6064351" cy="1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внутренние регламенты по внедрению новых цифровых инструментов: кто согласовывает, какие критерии безопасности действуют, какие риски оцениваются.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примеры неудачных интеграций (в компании или отрасли): что пошло не так — несовместимость, утечки данных, блокировки, нарушения SLA.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вводные материалы по технологической архитектуре: совместимость систем, протоколы обмена, API, уровни безопасности, требования ИБ.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типовыми рисками при внедрении новых инструментов.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3" name="Google Shape;1143;p120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4" name="Google Shape;1144;p120"/>
          <p:cNvSpPr/>
          <p:nvPr/>
        </p:nvSpPr>
        <p:spPr>
          <a:xfrm>
            <a:off x="372424" y="47026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появлении идеи внедрить новый инструмент — консультироваться с IT заранее, уточнять ограничения, требования к интеграции, риски.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пилотах новых решений, внимательно фиксируя все случаи некорректной работы, конфликтов интеграций, сбоев передачи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в подготовке пакета на согласование внедрения: описание потребности, сценариев использования, рисков, источников данных, требований безопасности.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5" name="Google Shape;1145;p120"/>
          <p:cNvSpPr/>
          <p:nvPr/>
        </p:nvSpPr>
        <p:spPr>
          <a:xfrm>
            <a:off x="351687" y="4180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6" name="Google Shape;1146;p120"/>
          <p:cNvSpPr/>
          <p:nvPr/>
        </p:nvSpPr>
        <p:spPr>
          <a:xfrm>
            <a:off x="367761" y="6881504"/>
            <a:ext cx="6064351" cy="146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внутренними правилами внедрения инструментов.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Соблюдать установленные правила: не внедрять самостоятельно сторонние инструменты без проверки IT.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 и зафиксировать, какие решения на вашем участке являются официально разрешенными, а какие — запрещенными.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7" name="Google Shape;1147;p120"/>
          <p:cNvSpPr/>
          <p:nvPr/>
        </p:nvSpPr>
        <p:spPr>
          <a:xfrm>
            <a:off x="347024" y="63590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2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НАВЫК БЕЗОПАСНОЙ ИНТЕГРАЦИИ БИЗНЕС-ИНСТРУМЕНТОВ И ТЕХНОЛОГИЙ В КОРПОРАТИВНЫЙ КОНТУР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2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5" name="Google Shape;1155;p121"/>
          <p:cNvSpPr/>
          <p:nvPr/>
        </p:nvSpPr>
        <p:spPr>
          <a:xfrm>
            <a:off x="347024" y="2276909"/>
            <a:ext cx="6064351" cy="591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новым сервисом проходить базовые проверки: где хранятся данные, кому принадлежит сервис, есть ли риски рассекречивания информации.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черновое описание: «для чего нужен сервис, какие данные использует, куда передаются, какие есть ограничения».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IT.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IT провести анализ совместимости инструмента с корпоративным контуром: API, протоколы, архитектура, требования ИБ.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тестировании интеграции: проверять корректность передачи данных, совместимость с ERP/CRM/MES.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Сопровождать согласование интеграции: описать сценарии, риски, требования к мониторингу, критерии успешного внедрения.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Документировать процесс внедрения: шаги, ответственные, точки контроля, ограничения.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подходы и стандарты безопасной интеграции инструментов в подразделении/функции.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архитектурных комитетах, защищать решения, консультировать коллег о рисках и ограничениях.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практику регулярного аудита используемых инструментов.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12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22"/>
          <p:cNvSpPr txBox="1"/>
          <p:nvPr/>
        </p:nvSpPr>
        <p:spPr>
          <a:xfrm>
            <a:off x="214175" y="553300"/>
            <a:ext cx="65448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ПРИНЦИПОВ РАБОТЫ КЛЮЧЕВЫХ ЦИФРОВЫХ СИСТЕМ КОМПАНИИ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22"/>
          <p:cNvSpPr/>
          <p:nvPr/>
        </p:nvSpPr>
        <p:spPr>
          <a:xfrm>
            <a:off x="347025" y="1798299"/>
            <a:ext cx="6064500" cy="6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назначение ключевых корпоративных систем (ERP, CRM, MES) и типовые бизнес-процессы, которые они поддерживают.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Читать внутренние материалы по архитектуре цифровых решений и корпоративные регламенты по ИТ-системам.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примеры схем архитектуры: какие данные куда передаются, какие модули задействованы.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записи демо ключевых систем, изучать функциональные руководства.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кейсами по оптимизации процессов и интеграций в компании.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собственные рабочие процессы: какие системы используются, какие данные передаются.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Определять узкие места при взаимодействии различных ИС в своей зоне ответственности.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изменений с ИТ, уточнять влияние изменений на смежные системы.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Описывать простые ИТ-потоки (откуда приходят данные и куда уходят).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возникающие проблемы в интеграциях и передавать их в ИТ-подразделение.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108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23"/>
          <p:cNvSpPr/>
          <p:nvPr/>
        </p:nvSpPr>
        <p:spPr>
          <a:xfrm>
            <a:off x="347025" y="1349374"/>
            <a:ext cx="6064500" cy="6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ИС используются в подразделении, собрать базовые описания их функций.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Просмотреть демонстрации ERP/CRM/MES, зафиксировать ключевые экраны и примеры данных.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один типовой процесс своей функции и указать, какие системы участвуют в каждом шаге.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источники данных, точки ввода информации и основные зависимости.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схему взаимодействия ERP/CRM/MES для типовой задачи подразделения.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ИТ определить ключевые точки передачи данных и ограничения.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Обновлять и корректировать схему по мере изменения процессов.</a:t>
            </a:r>
            <a:endParaRPr sz="950"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5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5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</a:t>
            </a:r>
            <a:r>
              <a:rPr lang="ru-RU" sz="95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5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Выявить узкие места интеграций и предложить варианты улучшений (например, автоматизация передачи данных, устранение дублирования).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проработке требований к изменениям, учитывая архитектурные ограничения.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Arial"/>
              <a:buNone/>
            </a:pPr>
            <a:r>
              <a:rPr lang="ru-RU" sz="9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5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7"/>
              <a:buFont typeface="Arial"/>
              <a:buNone/>
            </a:pPr>
            <a:endParaRPr sz="9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описания ИТ-потоков для своей функции.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пониманию ИТ-ландшафта, проводить мини-сессии по разбору архитектуры систем.</a:t>
            </a:r>
            <a:b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Char char="o"/>
            </a:pPr>
            <a:r>
              <a:rPr lang="ru-RU" sz="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целевой архитектуры и стратегических изменений цифровых систем.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123"/>
          <p:cNvSpPr txBox="1"/>
          <p:nvPr/>
        </p:nvSpPr>
        <p:spPr>
          <a:xfrm>
            <a:off x="214175" y="428350"/>
            <a:ext cx="65244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ПРИНЦИПОВ РАБОТЫ КЛЮЧЕВЫХ ЦИФРОВЫХ СИСТЕМ КОМПАНИИ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109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2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АРХИТЕКТУРЫ ИНТЕГРАЦИЙ И ДВИЖЕНИЯ ДАННЫХ (API, ШИНЫ, МАСТЕР-ДАННЫЕ)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9" name="Google Shape;1179;p12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0" name="Google Shape;1180;p124"/>
          <p:cNvSpPr/>
          <p:nvPr/>
        </p:nvSpPr>
        <p:spPr>
          <a:xfrm>
            <a:off x="347024" y="2276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понятия: API, интеграционная шина, мастер-данные, операционные данные, сервисы, события.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материалы о принципах событийной архитектуры, микросервисов и корпоративных шин данных.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примеры интеграционных ошибок: дублирование контрагентов, рассинхронизация статусов, потеря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12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124"/>
          <p:cNvSpPr/>
          <p:nvPr/>
        </p:nvSpPr>
        <p:spPr>
          <a:xfrm>
            <a:off x="372424" y="44105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с ИТ уточнять, через что проходят данные: API, файловый обмен, шина, ручной ввод.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вместе с аналитиками один «путь данных»: источник → преобразование → получатель.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Сообщать о случаях несогласованности данных между системами — это признаки проблем с мастер-данными или интеграциями.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124"/>
          <p:cNvSpPr/>
          <p:nvPr/>
        </p:nvSpPr>
        <p:spPr>
          <a:xfrm>
            <a:off x="351687" y="38880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124"/>
          <p:cNvSpPr/>
          <p:nvPr/>
        </p:nvSpPr>
        <p:spPr>
          <a:xfrm>
            <a:off x="367761" y="6589404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Зафиксировать, какие данные вы используете в работе, спросить у ИТ, что является их мастер-системой.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чем мастер-данные отличаются от операционных (например, контрагент vs. заказ).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простой путь данных для одной сущности (например, контрагент): где создается, куда передается, кто обновляет.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где возможны рассинхронизации.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5" name="Google Shape;1185;p124"/>
          <p:cNvSpPr/>
          <p:nvPr/>
        </p:nvSpPr>
        <p:spPr>
          <a:xfrm>
            <a:off x="347024" y="60669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2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АРХИТЕКТУРЫ ИНТЕГРАЦИЙ И ДВИЖЕНИЯ ДАННЫХ (API, ШИНЫ, МАСТЕР-ДАННЫЕ)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2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3" name="Google Shape;1193;p125"/>
          <p:cNvSpPr/>
          <p:nvPr/>
        </p:nvSpPr>
        <p:spPr>
          <a:xfrm>
            <a:off x="347024" y="2276909"/>
            <a:ext cx="6064351" cy="33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интеграции для процесса (например, заявка → ERP → склад → BI): точки передачи данных, форматы, сценарии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 существующие ограничения API и шины данных.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Выявить узкие места интеграций: дубли данных, ручные вмешательства, задержки обновлений.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улучшения схемы интеграции и согласовать с архитекторами/ИТ.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Проектировать схемы интеграций для новых решений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пониманию архитектуры данных, мастер-данных, API.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12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2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ТРЕБОВАНИЙ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ЗАДАЧ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ИТ-ПОДРАЗДЕЛЕНИЯ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1" name="Google Shape;1201;p12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126"/>
          <p:cNvSpPr/>
          <p:nvPr/>
        </p:nvSpPr>
        <p:spPr>
          <a:xfrm>
            <a:off x="347024" y="2276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шаблоны ТЗ, пользовательских сценариев, бизнес-требований, критериев приемки.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материалы по постановке задач ИТ: формат SMART, user story, acceptance criteria.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хороших и плохих ТЗ, сравнить подходы.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12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126"/>
          <p:cNvSpPr/>
          <p:nvPr/>
        </p:nvSpPr>
        <p:spPr>
          <a:xfrm>
            <a:off x="372424" y="42327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формировать задачи ИТ письменно по структуре: цель, пользователи, сценарии, требования, критерии успеха.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встречах по уточнению требований: задавать вопросы, фиксировать решения.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тестовые версии функционала и соотносить с критериями приемки.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26"/>
          <p:cNvSpPr/>
          <p:nvPr/>
        </p:nvSpPr>
        <p:spPr>
          <a:xfrm>
            <a:off x="351687" y="3710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126"/>
          <p:cNvSpPr/>
          <p:nvPr/>
        </p:nvSpPr>
        <p:spPr>
          <a:xfrm>
            <a:off x="367761" y="6348104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свою потребность в формате «проблема → что хочу получить → зачем».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базовые сценарии использования решения.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черновик требований/ТЗ для улучшения функционала и обсудить его с аналитиком.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критерии приемки: когда именно задача считается выполненной.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126"/>
          <p:cNvSpPr/>
          <p:nvPr/>
        </p:nvSpPr>
        <p:spPr>
          <a:xfrm>
            <a:off x="347024" y="58256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27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ФОРМУЛИРОВАНИЕ ТРЕБОВАНИЙ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ЗАДАЧ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ДЛЯ ИТ-ПОДРАЗДЕЛЕНИЯ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12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127"/>
          <p:cNvSpPr/>
          <p:nvPr/>
        </p:nvSpPr>
        <p:spPr>
          <a:xfrm>
            <a:off x="347024" y="2276909"/>
            <a:ext cx="6064351" cy="376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Полностью сформировать ТЗ / пользовательские сценарии для одной задачи и согласовать их с ИТ.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UAT, фиксировать дефекты, проверять выполнение критериев приемки.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Сопровождать реализацию задачи: регулярные проверки статуса, контроль тестирования, анализ рисков.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передачу задачи в эксплуатацию и контроль первых недель использования.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практику управления требованиями в подразделении: стандарты, шаблоны, процесс приемки.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постановке требований и контролю ИТ-работ.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27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2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ПРИМЕНИМОСТИ ТЕХНОЛОГИЙ ИИ, RPA, VR/AR, ЦИФРОВЫХ ДВОЙНИКОВ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2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4" name="Google Shape;1224;p128"/>
          <p:cNvSpPr/>
          <p:nvPr/>
        </p:nvSpPr>
        <p:spPr>
          <a:xfrm>
            <a:off x="347024" y="1895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Пройти обзор доступных технологий: ИИ, машинное обучение, VR/AR, цифровые двойники, RPA.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их применения в нефтегазе и промышленности.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критерии технологической целесообразности: зрелость технологии, эффект, стоимость внедрения, риски.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5" name="Google Shape;1225;p12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6" name="Google Shape;1226;p128"/>
          <p:cNvSpPr/>
          <p:nvPr/>
        </p:nvSpPr>
        <p:spPr>
          <a:xfrm>
            <a:off x="372424" y="38771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реальных задачах искать возможности применения технологий: где есть рутинные операции, где нужна визуализация, прогнозирование, моделирование.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пилотах по новым технологиям в роли пользователя: давать обратную связь, фиксировать ограничения.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первичную оценку потенциальных технологий: эффект, риски, стоимость, применимость к вашему процессу.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28"/>
          <p:cNvSpPr/>
          <p:nvPr/>
        </p:nvSpPr>
        <p:spPr>
          <a:xfrm>
            <a:off x="351687" y="3354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8" name="Google Shape;1228;p128"/>
          <p:cNvSpPr/>
          <p:nvPr/>
        </p:nvSpPr>
        <p:spPr>
          <a:xfrm>
            <a:off x="367761" y="5955374"/>
            <a:ext cx="6064351" cy="269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список задач вашего участка и отметить, где потенциально может применяться ИИ, роботизация или визуализация.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список с экспертом или руководителем.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одной задачи описать: какой инструмент подходит, какую проблему решает, какой эффект ожидаем.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пилоте: протестировать функционал, описать впечатления.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28"/>
          <p:cNvSpPr/>
          <p:nvPr/>
        </p:nvSpPr>
        <p:spPr>
          <a:xfrm>
            <a:off x="347024" y="54329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2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ОЦЕНКА ПРИМЕНИМОСТИ ТЕХНОЛОГИЙ ИИ, RPA, VR/AR, ЦИФРОВЫХ ДВОЙНИКОВ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2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129"/>
          <p:cNvSpPr/>
          <p:nvPr/>
        </p:nvSpPr>
        <p:spPr>
          <a:xfrm>
            <a:off x="347024" y="1895909"/>
            <a:ext cx="6064351" cy="3460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мини-обоснование технологии: эффект, риски, требования, ограничения.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Проверить, возможно ли расширение использования (масштабируемость) и на каких условиях.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формировании дорожной карты по внедрению новой технологии в своем направлении.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анализ применимости: сравнивать альтернативы, рассчитывать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портфель перспективных технологий в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команды, участвовать в архитектурных комитетах по оценке технологий.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2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30"/>
          <p:cNvSpPr/>
          <p:nvPr/>
        </p:nvSpPr>
        <p:spPr>
          <a:xfrm>
            <a:off x="464075" y="704850"/>
            <a:ext cx="57342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ЦИФРОВАЯ АРХИТЕКТУРА И ИНТЕГРАЦИЯ СИСТЕМ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130"/>
          <p:cNvSpPr txBox="1"/>
          <p:nvPr/>
        </p:nvSpPr>
        <p:spPr>
          <a:xfrm>
            <a:off x="464075" y="2748700"/>
            <a:ext cx="5193900" cy="4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Building Microservices: Designing Fine-Grained Systems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Digital @ Scale: Настольная книга по цифровизации бизнеса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Patterns of Enterprise Application Architecture</a:t>
            </a:r>
            <a:endParaRPr sz="2087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13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7" name="Google Shape;1247;p130"/>
          <p:cNvSpPr txBox="1"/>
          <p:nvPr/>
        </p:nvSpPr>
        <p:spPr>
          <a:xfrm>
            <a:off x="799139" y="2124030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31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КОРПОРАТИВНОЙ ЦИФРОВОЙ АРХИТЕКТУРЫ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(ЦЕЛЕВОЕ ВИДЕНИЕ ИТ-ЭКОСИСТЕМЫ)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13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31"/>
          <p:cNvSpPr/>
          <p:nvPr/>
        </p:nvSpPr>
        <p:spPr>
          <a:xfrm>
            <a:off x="347024" y="2276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элементы архитектуры: модули, подсистемы, интерфейсы, интеграции, поток данных, целевая и текущая архитектура. Разобрать примеры архитектурных схем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Рассмотреть 1–2 кейса, где несогласованность архитектуры привела к сбоям или увеличению стоимости владения.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131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131"/>
          <p:cNvSpPr/>
          <p:nvPr/>
        </p:nvSpPr>
        <p:spPr>
          <a:xfrm>
            <a:off x="372424" y="40803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 участии в цифровых инициативах уточнять у архитекторов, как ваше решение вписывается в целевую архитектуру.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Научиться видеть пересечения: где решения дублируют функции друг друга.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архитектурных ограничений и предлагаемого целевого состояния.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8" name="Google Shape;1258;p131"/>
          <p:cNvSpPr/>
          <p:nvPr/>
        </p:nvSpPr>
        <p:spPr>
          <a:xfrm>
            <a:off x="351687" y="3557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31"/>
          <p:cNvSpPr/>
          <p:nvPr/>
        </p:nvSpPr>
        <p:spPr>
          <a:xfrm>
            <a:off x="367761" y="6030604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какие системы относятся к вашей зоне ответственности, и зафиксировать этот мини-ландшафт.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у архитекторов, какая целевая архитектура формируется в компании.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Нарисовать схему своего локального цифрового ландшафта: что с чем связано, через что идут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системы являются критическими.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0" name="Google Shape;1260;p131"/>
          <p:cNvSpPr/>
          <p:nvPr/>
        </p:nvSpPr>
        <p:spPr>
          <a:xfrm>
            <a:off x="347024" y="5508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3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КОРПОРАТИВНОЙ ЦИФРОВОЙ АРХИТЕКТУРЫ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(ЦЕЛЕВОЕ ВИДЕНИЕ ИТ-ЭКОСИСТЕМЫ)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3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8" name="Google Shape;1268;p132"/>
          <p:cNvSpPr/>
          <p:nvPr/>
        </p:nvSpPr>
        <p:spPr>
          <a:xfrm>
            <a:off x="347024" y="2276909"/>
            <a:ext cx="6064351" cy="3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улучшения локальной архитектуры: устранение разрывов, упрощение цепочек, унификация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предложения с архитектурной командой.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Принять участие в проектировании целевой архитектуры для направления: модули, интеграции, роли систем.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вариант архитектурной схемы и защитить его.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архитектурную практику в подразделении: стандарты, принципы, правила.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Представлять решения на архитектурных комитетах, участвовать в формировании корпоративного архитектурного видения.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13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3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ДУБЛИРОВАНИЯ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ФРАГМЕНТАЦИИ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ЦИФРОВЫХ РЕШЕНИЙ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1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7" name="Google Shape;1277;p133"/>
          <p:cNvSpPr/>
          <p:nvPr/>
        </p:nvSpPr>
        <p:spPr>
          <a:xfrm>
            <a:off x="347024" y="2276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критерии дублирования цифровых решений: одинаковые функции, одинаковые данные, одинаковые пользователи.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проблемной фрагментации: разные Excel-базы, локальные версии отчетов, параллельные системы учета.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кейсы, где консолидация решений привела к экономии и повышению эффективности.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8" name="Google Shape;1278;p13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33"/>
          <p:cNvSpPr/>
          <p:nvPr/>
        </p:nvSpPr>
        <p:spPr>
          <a:xfrm>
            <a:off x="372424" y="43343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перечень инструментов, которые используются в подразделении, и отметить пересечения.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Сообщать о случаях дублирования данных или решений — это признак несогласованной архитектуры.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аудитах цифрового инструментария.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0" name="Google Shape;1280;p133"/>
          <p:cNvSpPr/>
          <p:nvPr/>
        </p:nvSpPr>
        <p:spPr>
          <a:xfrm>
            <a:off x="351687" y="3811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1" name="Google Shape;1281;p133"/>
          <p:cNvSpPr/>
          <p:nvPr/>
        </p:nvSpPr>
        <p:spPr>
          <a:xfrm>
            <a:off x="367761" y="6284604"/>
            <a:ext cx="6064351" cy="253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Зафиксировать, где вы вручную дублируете данные в разных системах.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случаи дублирования решений и предложить, что можно объединить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мини-аудит инструментов подразделения: функции, пользователи,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выводы — где фрагментация и что можно объединить.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2" name="Google Shape;1282;p133"/>
          <p:cNvSpPr/>
          <p:nvPr/>
        </p:nvSpPr>
        <p:spPr>
          <a:xfrm>
            <a:off x="347024" y="5762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34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АНАЛИЗ ДУБЛИРОВАНИЯ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ФРАГМЕНТАЦИИ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ЦИФРОВЫХ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3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0" name="Google Shape;1290;p134"/>
          <p:cNvSpPr/>
          <p:nvPr/>
        </p:nvSpPr>
        <p:spPr>
          <a:xfrm>
            <a:off x="347024" y="2276909"/>
            <a:ext cx="6064351" cy="17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Инициировать консолидацию одного из процессов или решений: объединить отчеты, убрать лишнюю систему, интегрировать данные.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процесс консолидации цифровых решений в направлении: определять стратегию и принципы сокращения дублирования.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1" name="Google Shape;1291;p134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3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АРХИТЕКТУРНЫХ ОГРАНИЧЕНИЙ И ТЕХНИЧЕСКОГО ДОЛГА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3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9" name="Google Shape;1299;p135"/>
          <p:cNvSpPr/>
          <p:nvPr/>
        </p:nvSpPr>
        <p:spPr>
          <a:xfrm>
            <a:off x="347024" y="1895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понятие «технический долг» и его влияние на скорость и стоимость изменений.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технических ограничений: устаревшие системы, слабые API, ручные процессы между ИС.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методы управления техническим долгом.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0" name="Google Shape;1300;p13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135"/>
          <p:cNvSpPr/>
          <p:nvPr/>
        </p:nvSpPr>
        <p:spPr>
          <a:xfrm>
            <a:off x="372424" y="38771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Наблюдать, какие ограничения постоянно всплывают в работе: задержки интеграций, ручные операции, отсутствие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Поднимать вопросы технических ограничений на совещаниях — фиксировать, что мешает реализовывать инициативы.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компромиссов между «быстро» и «правильно».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135"/>
          <p:cNvSpPr/>
          <p:nvPr/>
        </p:nvSpPr>
        <p:spPr>
          <a:xfrm>
            <a:off x="351687" y="3354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35"/>
          <p:cNvSpPr/>
          <p:nvPr/>
        </p:nvSpPr>
        <p:spPr>
          <a:xfrm>
            <a:off x="367761" y="582837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Описать, какие технические ограничения вы встречаете в повседневной работе.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какие из ограничений связаны с архитектурой, а какие — с процессами или пользователями.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ограничения влияют на ключевые процессы и какие последствия возникают.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Предложить гипотезы, как уменьшить влияние технических долгов.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4" name="Google Shape;1304;p135"/>
          <p:cNvSpPr/>
          <p:nvPr/>
        </p:nvSpPr>
        <p:spPr>
          <a:xfrm>
            <a:off x="347024" y="53059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3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АРХИТЕКТУРНЫХ ОГРАНИЧЕНИЙ И ТЕХНИЧЕСКОГО ДОЛГА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3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136"/>
          <p:cNvSpPr/>
          <p:nvPr/>
        </p:nvSpPr>
        <p:spPr>
          <a:xfrm>
            <a:off x="347024" y="1895909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Совместно с ИТ разработать план устранения или обхода технических ограничений: этапы, ресурсы, эффекты.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приоритеты по долговым точкам.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стратегических архитектурных обсуждениях, формировать план развития систем с учетом долгов.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пониманию архитектурных ограничений и системному подходу.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3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37"/>
          <p:cNvSpPr/>
          <p:nvPr/>
        </p:nvSpPr>
        <p:spPr>
          <a:xfrm>
            <a:off x="441325" y="704850"/>
            <a:ext cx="59433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ЦИФРОВЫМИ ИНИЦИАТИВАМИ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0" name="Google Shape;1320;p137"/>
          <p:cNvSpPr txBox="1"/>
          <p:nvPr/>
        </p:nvSpPr>
        <p:spPr>
          <a:xfrm>
            <a:off x="374825" y="2534500"/>
            <a:ext cx="6078300" cy="6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4CDTO Клуб: Учебник CDTO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https://book4cdto.ru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OpenEdu: Цифровая трансформация (СПбГУ)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https://openedu.ru/course/spbu/DIGBUS/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— Profitcon: Premium программа CDTO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https://profitcon.ru/events/seminars/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— МШУ Сколково: Digital Shift программа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https://skolkovo.ru/programmes/cdto/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Leading Digital: Turning Technology into Business Transformation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Why Digital Transformations Fail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Цифровая трансформация бизнеса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Digital scale - настольная книга по трансформациибизнеса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3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2" name="Google Shape;1322;p137"/>
          <p:cNvSpPr txBox="1"/>
          <p:nvPr/>
        </p:nvSpPr>
        <p:spPr>
          <a:xfrm>
            <a:off x="799139" y="2153796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38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ИНИЦИИРОВАНИЕ И ОБОСНОВАНИЕ ЦИФРОВЫХ ИНИЦИАТИВ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3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0" name="Google Shape;1330;p138"/>
          <p:cNvSpPr/>
          <p:nvPr/>
        </p:nvSpPr>
        <p:spPr>
          <a:xfrm>
            <a:off x="347024" y="18959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принципы выявления проблем: интервью, наблюдение, гипотезы, анализ данных.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внутренние шаблоны описания инициатив: проблема → корневая причина → гипотеза → ожидаемый эффект → минимальный пилот.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примерами удачных и неудачных инициатив: как сформулирована проблема, чего не хватило в обосновании.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1" name="Google Shape;1331;p138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2" name="Google Shape;1332;p138"/>
          <p:cNvSpPr/>
          <p:nvPr/>
        </p:nvSpPr>
        <p:spPr>
          <a:xfrm>
            <a:off x="372424" y="3953309"/>
            <a:ext cx="6064351" cy="131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 за процессами своего участка и фиксировать проблемы, задержки, ошибки, дублирования действий.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улучшениям, задавать вопросы: «почему это делается так?», «что мешает работать быстрее/точнее?».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Пробовать самостоятельно описывать выявленные проблемы и формировать гипотезы решения.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38"/>
          <p:cNvSpPr/>
          <p:nvPr/>
        </p:nvSpPr>
        <p:spPr>
          <a:xfrm>
            <a:off x="351687" y="3430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4" name="Google Shape;1334;p138"/>
          <p:cNvSpPr/>
          <p:nvPr/>
        </p:nvSpPr>
        <p:spPr>
          <a:xfrm>
            <a:off x="367761" y="5980774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одну проблему в формате «наблюдение → почему это мешает → последствия».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Записать хотя бы одну гипотезу улучшения.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мини-интервью с коллегами, чтобы лучше понять истинные причины проблемы.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Оформить инициативу в шаблоне: проблема, гипотеза, ограничения, эффект.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5" name="Google Shape;1335;p138"/>
          <p:cNvSpPr/>
          <p:nvPr/>
        </p:nvSpPr>
        <p:spPr>
          <a:xfrm>
            <a:off x="347024" y="5458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39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ИНИЦИИРОВАНИЕ И ОБОСНОВАНИЕ ЦИФРОВЫХ ИНИЦИАТИВ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3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3" name="Google Shape;1343;p139"/>
          <p:cNvSpPr/>
          <p:nvPr/>
        </p:nvSpPr>
        <p:spPr>
          <a:xfrm>
            <a:off x="347024" y="1895909"/>
            <a:ext cx="6064351" cy="3460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обоснование цифровой инициативы с данными: частота проблемы, длительность процесса, количество ошибок.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инициативу на встрече команды и получить обратную связь.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минимальный пилот (MVP) инициативы, выделить критерии успеха.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Согласовать инициативу с ИТ и бизнесом, уточнить границы решения.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практику цифровых инициатив: помогать коллегам выявлять проблемы, формулировать гипотезы, оценивать эффект.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единые шаблоны, обучать команду подходу «проблема → гипотеза → пилот → масштабирование».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139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4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ПРОЦЕССОВ AS-IS ДЛЯ ПОДГОТОВКИ ЦИФРОВЫХ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4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40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методики моделирования процессов: BPMN, SIPOC, диаграммы потоков.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корректных моделей «as-is» и «to-be».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принципы структурирования процесса: роли, шаги, входы/выходы, исключения.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3" name="Google Shape;1353;p14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4" name="Google Shape;1354;p140"/>
          <p:cNvSpPr/>
          <p:nvPr/>
        </p:nvSpPr>
        <p:spPr>
          <a:xfrm>
            <a:off x="372424" y="37501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Начать фиксировать текущие процессы своего участка: шаги, точки задержек, ответственные.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рабочих группах по описанию процессов, задавать уточняющие вопросы.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Актуализировать существующие схемы по фактическим действиям сотрудников.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40"/>
          <p:cNvSpPr/>
          <p:nvPr/>
        </p:nvSpPr>
        <p:spPr>
          <a:xfrm>
            <a:off x="351687" y="32276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40"/>
          <p:cNvSpPr/>
          <p:nvPr/>
        </p:nvSpPr>
        <p:spPr>
          <a:xfrm>
            <a:off x="367761" y="5777574"/>
            <a:ext cx="6064351" cy="300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один небольшой процесс текстом по шагам.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описание у коллег, проверив фактическую логику.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Перевести процесс в схему (блок-схема или BPMN-light).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Указать роли, последовательность действий, условия.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полную модель as-is в BPMN/SIPOC: шаги, точки решения, варианты.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Выделить ограничения, места ошибок, дублирование, задержки.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40"/>
          <p:cNvSpPr/>
          <p:nvPr/>
        </p:nvSpPr>
        <p:spPr>
          <a:xfrm>
            <a:off x="347024" y="52551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4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ПРОЦЕССОВ AS-IS ДЛЯ ПОДГОТОВКИ ЦИФРОВЫХ РЕШЕНИЙ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14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5" name="Google Shape;1365;p141"/>
          <p:cNvSpPr/>
          <p:nvPr/>
        </p:nvSpPr>
        <p:spPr>
          <a:xfrm>
            <a:off x="347024" y="1895909"/>
            <a:ext cx="6064351" cy="238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базе модели «as-is» сформировать «to-be»: целевую схему с улучшениями и цифровыми инструментами.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модель на встрече, обосновать точки цифровизации.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процессное моделирование в подразделении: стандарты, библиотеки элементов, единые шаблоны.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структурированию процессов, помогать формировать схемы «as-is → to-be».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6" name="Google Shape;1366;p14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42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ОРИЕНТАЦИЯ НА РЕЗУЛЬТАТ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РАМКАХ ФУНКЦИИ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14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4" name="Google Shape;1374;p142"/>
          <p:cNvSpPr/>
          <p:nvPr/>
        </p:nvSpPr>
        <p:spPr>
          <a:xfrm>
            <a:off x="347024" y="1895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подходы KPI- и OKR-управления: что такое цель, метрика, вклад.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декомпозиции целей от функции до конкретных задач.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 кейсы, где выполнение задач не равно достижению результата.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5" name="Google Shape;1375;p142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6" name="Google Shape;1376;p142"/>
          <p:cNvSpPr/>
          <p:nvPr/>
        </p:nvSpPr>
        <p:spPr>
          <a:xfrm>
            <a:off x="372424" y="3546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планерках и встречах задавать вопрос: «Какой результат мы хотим получить, а не какие задачи выполнить?».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Выделять собственные цели в привязке к KPI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создании дашбордов и мониторинге ключевых метрик.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7" name="Google Shape;1377;p142"/>
          <p:cNvSpPr/>
          <p:nvPr/>
        </p:nvSpPr>
        <p:spPr>
          <a:xfrm>
            <a:off x="351687" y="302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42"/>
          <p:cNvSpPr/>
          <p:nvPr/>
        </p:nvSpPr>
        <p:spPr>
          <a:xfrm>
            <a:off x="367761" y="5345774"/>
            <a:ext cx="6064351" cy="315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какой результат ожидается от вашей роли/участка. </a:t>
            </a:r>
            <a:b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Переписать задачи недели через призму результата «что должно измениться?».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ежедневные действия с KPI: составить таблицу «задача — вклад».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Обсудить с руководителем, какие задачи имеют высокий вклад, а какие нет.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свои метрики (или пользовательский набор показателей) для отслеживания результата.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регулярный мониторинг достижения целей.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142"/>
          <p:cNvSpPr/>
          <p:nvPr/>
        </p:nvSpPr>
        <p:spPr>
          <a:xfrm>
            <a:off x="347024" y="48233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43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ОРИЕНТАЦИЯ НА РЕЗУЛЬТАТ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В РАМКАХ ФУНКЦИИ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4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7" name="Google Shape;1387;p143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командный дашборд: цели, метрики, динамика, отклонения.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процесс приоритизации задач через вклад в KPI.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достижением результатов функции: планирование, контроль, корректировка.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команды ориентации на эффект, а не на процесс.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143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4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ПРОЦЕССОВ И ГИБКОЕ ВНЕДРЕНИЕ ИЗМЕНЕНИЙ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14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6" name="Google Shape;1396;p144"/>
          <p:cNvSpPr/>
          <p:nvPr/>
        </p:nvSpPr>
        <p:spPr>
          <a:xfrm>
            <a:off x="347024" y="1895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гибких подходов: Agile, Kanban, Scrum, подход Lean Change.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постепенных внедрений: итерации, фазы, MVP. 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методикой управления сопротивлением изменениям.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14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8" name="Google Shape;1398;p144"/>
          <p:cNvSpPr/>
          <p:nvPr/>
        </p:nvSpPr>
        <p:spPr>
          <a:xfrm>
            <a:off x="372424" y="3546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Применять принцип «малый шаг — быстрая проверка — корректировка» в своих задачах.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запуске изменений: собирать обратную связь, фиксировать точки сопротивления.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Запускать небольшие улучшения без ожидания больших проектов.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144"/>
          <p:cNvSpPr/>
          <p:nvPr/>
        </p:nvSpPr>
        <p:spPr>
          <a:xfrm>
            <a:off x="351687" y="302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0" name="Google Shape;1400;p144"/>
          <p:cNvSpPr/>
          <p:nvPr/>
        </p:nvSpPr>
        <p:spPr>
          <a:xfrm>
            <a:off x="367761" y="5498174"/>
            <a:ext cx="6064351" cy="315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Выделить один процесс, который можно упростить: убрать лишние действия, автоматизировать шаг.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микроверсию изменения без согласований.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мини-итерацию: гипотеза → действие → результат → вывод.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Задокументировать, что изменилось.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небольшой гибкий трек изменений: бэклог, задачи, проверки, ретроспективы.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сбор обратной связи и анализ результатов.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44"/>
          <p:cNvSpPr/>
          <p:nvPr/>
        </p:nvSpPr>
        <p:spPr>
          <a:xfrm>
            <a:off x="347024" y="49757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45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ПРОЦЕССОВ И ГИБКОЕ ВНЕДРЕНИЕ ИЗМЕНЕНИЙ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4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9" name="Google Shape;1409;p145"/>
          <p:cNvSpPr/>
          <p:nvPr/>
        </p:nvSpPr>
        <p:spPr>
          <a:xfrm>
            <a:off x="347024" y="1895909"/>
            <a:ext cx="6064351" cy="223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значимое изменение в подразделении: планирование, коммуникации, контроль результатов.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итерационное внедрение (несколько фаз).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Курировать процессы улучшений: создать систему гибких изменений, обучить команды.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трансформацию на уровне функций/направлений.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0" name="Google Shape;1410;p145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46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ПРОЕКТАМИ ЦИФРОВОЙ ТРАНСФОРМАЦИИ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4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8" name="Google Shape;1418;p146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проектного управления: этапы, сроки, риски, бюджет, роли, документация.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примеры цифровых проектов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методами контроля качества и управленческого учета по проектам.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9" name="Google Shape;1419;p146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0" name="Google Shape;1420;p146"/>
          <p:cNvSpPr/>
          <p:nvPr/>
        </p:nvSpPr>
        <p:spPr>
          <a:xfrm>
            <a:off x="372424" y="3673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проектных встречах: планирование, статус, риски.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свои задачи по проекту: фиксация сроков, зависимостей, прогресса.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Наблюдать за взаимодействием проектной команды.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146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146"/>
          <p:cNvSpPr/>
          <p:nvPr/>
        </p:nvSpPr>
        <p:spPr>
          <a:xfrm>
            <a:off x="367761" y="5409274"/>
            <a:ext cx="6064351" cy="284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свой небольшой участок в проекте: выполнять задачи, соблюдать сроки.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мини-план проекта: шаги, сроки, ответственные.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Отчитываться о прогрессе и рисках.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проектом в своей зоне ответственности: участие в планировании, контроле задач, UAT, запуске.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Организовать взаимодействие между функциями.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146"/>
          <p:cNvSpPr/>
          <p:nvPr/>
        </p:nvSpPr>
        <p:spPr>
          <a:xfrm>
            <a:off x="347024" y="48868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47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ПРОЕКТАМИ ЦИФРОВОЙ ТРАНСФОРМАЦИИ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14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1" name="Google Shape;1431;p147"/>
          <p:cNvSpPr/>
          <p:nvPr/>
        </p:nvSpPr>
        <p:spPr>
          <a:xfrm>
            <a:off x="347024" y="1895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проектом трансформации целиком: бюджет, ресурсы, график, риски, коммуникации.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процессы управления изменениями внутри проекта.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масштабными проектами цифровой трансформации.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проектную культуру и стандарты управления.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2" name="Google Shape;1432;p147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48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АРХИТЕКТУРНОЙ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ФУНКЦИОНАЛЬНОЙ ЦЕЛОСТНОСТИ ЦИФРОВОГО РЕШЕНИЯ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14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148"/>
          <p:cNvSpPr/>
          <p:nvPr/>
        </p:nvSpPr>
        <p:spPr>
          <a:xfrm>
            <a:off x="347024" y="2276909"/>
            <a:ext cx="6064351" cy="115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принципы архитектурного мышления: модульность, совместимость, повторное использование, единые данные.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архитектур «как нельзя»: фрагментация, разрывы, дублирование.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понятия: целевая архитектура, интеграции, мастер-данные, API.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148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148"/>
          <p:cNvSpPr/>
          <p:nvPr/>
        </p:nvSpPr>
        <p:spPr>
          <a:xfrm>
            <a:off x="372424" y="43343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по разработке решений задавать вопросы: «как это интегрируется?», «какие данные используются?», «есть ли дублирование?».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обсуждения целостности: что будет, если поменять один элемент системы.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архитектурных согласованиях.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3" name="Google Shape;1443;p148"/>
          <p:cNvSpPr/>
          <p:nvPr/>
        </p:nvSpPr>
        <p:spPr>
          <a:xfrm>
            <a:off x="351687" y="38118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4" name="Google Shape;1444;p148"/>
          <p:cNvSpPr/>
          <p:nvPr/>
        </p:nvSpPr>
        <p:spPr>
          <a:xfrm>
            <a:off x="367761" y="6157604"/>
            <a:ext cx="6064351" cy="284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какие части цифрового решения взаимодействуют между собой (модули, системы).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зависимости есть у вашей задачи: данные, интерфейсы, интеграции.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Описать всю функциональную цепочку решения: пользователь → интерфейс → бизнес-логика → данные → интеграции.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 целостность: нет ли конфликтов.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5" name="Google Shape;1445;p148"/>
          <p:cNvSpPr/>
          <p:nvPr/>
        </p:nvSpPr>
        <p:spPr>
          <a:xfrm>
            <a:off x="347024" y="56351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49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АРХИТЕКТУРНОЙ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ФУНКЦИОНАЛЬНОЙ ЦЕЛОСТНОСТИ ЦИФРОВОГО РЕШЕНИЯ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49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135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3" name="Google Shape;1453;p149"/>
          <p:cNvSpPr/>
          <p:nvPr/>
        </p:nvSpPr>
        <p:spPr>
          <a:xfrm>
            <a:off x="347024" y="2276909"/>
            <a:ext cx="6064351" cy="207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элемент целевой архитектуры: схема интеграций, логика работы, модули.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Представить решение на архитектурной встрече.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Создавать архитектурные концепции цифровых решений.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Наставлять по архитектурному мышлению.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49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50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ПОДРЯДЧИКАМИ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РЕАЛИЗАЦИИ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50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136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2" name="Google Shape;1462;p150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материалы по SLA, актированию, управлению подрядчиками.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успешных и проблемных проектов — где подрядчик не выполнил обязательства.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Освоить принципы контроля качества результатов.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150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150"/>
          <p:cNvSpPr/>
          <p:nvPr/>
        </p:nvSpPr>
        <p:spPr>
          <a:xfrm>
            <a:off x="372424" y="3673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во встречах с подрядчиками.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Отслеживать выполнение задач подрядчика в своей зоне.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промежуточные результаты.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5" name="Google Shape;1465;p150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p150"/>
          <p:cNvSpPr/>
          <p:nvPr/>
        </p:nvSpPr>
        <p:spPr>
          <a:xfrm>
            <a:off x="367761" y="5358474"/>
            <a:ext cx="6064351" cy="376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роль связующего лица: фиксировать договоренности.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соответствие результатов ТЗ.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Фиксировать замечания, давать обратную связь.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задачами подрядчика: сроки, риски, качество.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актировании работ.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Координировать работу нескольких подрядчиков.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SLA и контролировать его выполнение.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150"/>
          <p:cNvSpPr/>
          <p:nvPr/>
        </p:nvSpPr>
        <p:spPr>
          <a:xfrm>
            <a:off x="347024" y="48360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51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ПОДРЯДЧИКАМИ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КОНТРОЛЬ РЕАЛИЗАЦИИ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51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137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5" name="Google Shape;1475;p151"/>
          <p:cNvSpPr/>
          <p:nvPr/>
        </p:nvSpPr>
        <p:spPr>
          <a:xfrm>
            <a:off x="347024" y="1895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Строить системный подход к работе с подрядчиками в отделе.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управлению внешними исполнителями.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6" name="Google Shape;1476;p151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52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ЮРИДИЧЕСКАЯ ГРАМОТНОСТЬ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ПОДРЯДЧИКАМИ (ЛИЦЕНЗИИ, SLA, TCO)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3" name="Google Shape;1483;p152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138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4" name="Google Shape;1484;p152"/>
          <p:cNvSpPr/>
          <p:nvPr/>
        </p:nvSpPr>
        <p:spPr>
          <a:xfrm>
            <a:off x="347024" y="2276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основные модели лицензирования ПО.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Понять, что такое TCO (полная стоимость владения).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примерами SLA и типовыми юридическими рисками.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5" name="Google Shape;1485;p152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6" name="Google Shape;1486;p152"/>
          <p:cNvSpPr/>
          <p:nvPr/>
        </p:nvSpPr>
        <p:spPr>
          <a:xfrm>
            <a:off x="372424" y="39406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Обсуждать условия контрактов с юристами: уточнять лицензионные ограничения, риски, обязанности сторон.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использования лицензий в своем подразделении.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расчетах TCO для новых решений.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7" name="Google Shape;1487;p152"/>
          <p:cNvSpPr/>
          <p:nvPr/>
        </p:nvSpPr>
        <p:spPr>
          <a:xfrm>
            <a:off x="351687" y="34181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8" name="Google Shape;1488;p152"/>
          <p:cNvSpPr/>
          <p:nvPr/>
        </p:nvSpPr>
        <p:spPr>
          <a:xfrm>
            <a:off x="367761" y="5763904"/>
            <a:ext cx="6064351" cy="269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Определить, какие лицензии используются на вашем участке.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Проверить, нет ли нарушений по использованию лицензий.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Прочитать SLA по одному контракту.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TCO решения: лицензия, инфраструктура, сопровождение.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подготовке требований к юридическим документам.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9" name="Google Shape;1489;p152"/>
          <p:cNvSpPr/>
          <p:nvPr/>
        </p:nvSpPr>
        <p:spPr>
          <a:xfrm>
            <a:off x="347024" y="52414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53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ЮРИДИЧЕСКАЯ ГРАМОТНОСТЬ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 РАБОТЕ С ПОДРЯДЧИКАМИ (ЛИЦЕНЗИИ, SLA, TCO)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6" name="Google Shape;1496;p15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139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p153"/>
          <p:cNvSpPr/>
          <p:nvPr/>
        </p:nvSpPr>
        <p:spPr>
          <a:xfrm>
            <a:off x="347024" y="2276909"/>
            <a:ext cx="6064351" cy="192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требования к SLA, учитывать юридические риски.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проектные решения на юридическую корректность.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Консультировать команды по юридическим аспектам цифровых проектов.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политику работы с подрядчиками с учетом юридических рисков.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153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54"/>
          <p:cNvSpPr/>
          <p:nvPr/>
        </p:nvSpPr>
        <p:spPr>
          <a:xfrm>
            <a:off x="322480" y="377609"/>
            <a:ext cx="5966608" cy="69531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ПРИЕМКА ЦИФРОВЫХ РЕШЕНИЙ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ТЕСТИРОВАНИЕ (UAT)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5" name="Google Shape;1505;p154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140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6" name="Google Shape;1506;p154"/>
          <p:cNvSpPr/>
          <p:nvPr/>
        </p:nvSpPr>
        <p:spPr>
          <a:xfrm>
            <a:off x="347024" y="1895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основы тестирования: позитивные/негативные сценарии, чек-листы, дефекты.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UAT в компании.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Познакомиться с шаблонами тест-кейсов.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7" name="Google Shape;1507;p154"/>
          <p:cNvSpPr/>
          <p:nvPr/>
        </p:nvSpPr>
        <p:spPr>
          <a:xfrm>
            <a:off x="326287" y="1373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8" name="Google Shape;1508;p154"/>
          <p:cNvSpPr/>
          <p:nvPr/>
        </p:nvSpPr>
        <p:spPr>
          <a:xfrm>
            <a:off x="372424" y="3673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приемке задач: тестировать сценарии, фиксировать ошибки.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шаги тестирования аккуратно, проверять каждый сценарий.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Предлагать улучшения интерфейсов.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9" name="Google Shape;1509;p154"/>
          <p:cNvSpPr/>
          <p:nvPr/>
        </p:nvSpPr>
        <p:spPr>
          <a:xfrm>
            <a:off x="351687" y="3151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0" name="Google Shape;1510;p154"/>
          <p:cNvSpPr/>
          <p:nvPr/>
        </p:nvSpPr>
        <p:spPr>
          <a:xfrm>
            <a:off x="367761" y="5358474"/>
            <a:ext cx="6064351" cy="3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тестирование по инструкции.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Составить простые тест-кейсы под свою задачу.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полное UAT: сценарии, ошибки, отчет.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Управлять процессом тестирования: приоритеты дефектов, ретесты.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Настраивать стандарты UAT в подразделении, обучать коллег.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154"/>
          <p:cNvSpPr/>
          <p:nvPr/>
        </p:nvSpPr>
        <p:spPr>
          <a:xfrm>
            <a:off x="347024" y="483606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55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КОММУНИКАЦИЯ СМЫСЛА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ЭФФЕКТОВ ЦИФРОВЫХ ИНИЦИАТИВ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ТРАНСФОРМАЦИИ</a:t>
            </a:r>
            <a:endParaRPr sz="1959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8" name="Google Shape;1518;p155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141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9" name="Google Shape;1519;p155"/>
          <p:cNvSpPr/>
          <p:nvPr/>
        </p:nvSpPr>
        <p:spPr>
          <a:xfrm>
            <a:off x="347024" y="2276909"/>
            <a:ext cx="6064351" cy="100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материалы по коммуникации изменений, сторителлингу, визуализации эффектов.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Посмотреть примеры удачных презентаций изменений.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Разобрать, как разные аудитории воспринимают информацию о трансформации.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0" name="Google Shape;1520;p155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1" name="Google Shape;1521;p155"/>
          <p:cNvSpPr/>
          <p:nvPr/>
        </p:nvSpPr>
        <p:spPr>
          <a:xfrm>
            <a:off x="372424" y="41057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встречах объяснять коллегам «почему происходит изменение».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Обсуждать цели и эффекты цифровизации в своей команде.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Помогать снимать тревогу и сопротивление.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2" name="Google Shape;1522;p155"/>
          <p:cNvSpPr/>
          <p:nvPr/>
        </p:nvSpPr>
        <p:spPr>
          <a:xfrm>
            <a:off x="351687" y="35832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3" name="Google Shape;1523;p155"/>
          <p:cNvSpPr/>
          <p:nvPr/>
        </p:nvSpPr>
        <p:spPr>
          <a:xfrm>
            <a:off x="367761" y="5852804"/>
            <a:ext cx="6064351" cy="33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Пересказать изменения в своей зоне простыми словами.</a:t>
            </a: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Сформулировать пользу изменений для пользователей.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презентацию «до/после» и защитить ее.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Снимать возражения коллег.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Вести коммуникации изменений в своем подразделении: презентации, сессии вопросов-ответов.</a:t>
            </a: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4" name="Google Shape;1524;p155"/>
          <p:cNvSpPr/>
          <p:nvPr/>
        </p:nvSpPr>
        <p:spPr>
          <a:xfrm>
            <a:off x="347024" y="5330391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56"/>
          <p:cNvSpPr/>
          <p:nvPr/>
        </p:nvSpPr>
        <p:spPr>
          <a:xfrm>
            <a:off x="322480" y="377609"/>
            <a:ext cx="5966608" cy="996811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9"/>
              <a:buFont typeface="Arial"/>
              <a:buNone/>
            </a:pP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КОММУНИКАЦИЯ СМЫСЛА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ЭФФЕКТОВ ЦИФРОВЫХ ИНИЦИАТИВ </a:t>
            </a:r>
            <a:b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959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 ТРАНСФОРМАЦИИ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156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142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2" name="Google Shape;1532;p156"/>
          <p:cNvSpPr/>
          <p:nvPr/>
        </p:nvSpPr>
        <p:spPr>
          <a:xfrm>
            <a:off x="347024" y="2276909"/>
            <a:ext cx="6064351" cy="8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ru-RU" sz="9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endParaRPr sz="997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Руководить коммуникацией трансформации на уровне функции.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807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8"/>
              <a:buFont typeface="Courier New"/>
              <a:buNone/>
            </a:pPr>
            <a:endParaRPr sz="997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39"/>
              </a:buClr>
              <a:buSzPts val="997"/>
              <a:buFont typeface="Courier New"/>
              <a:buChar char="o"/>
            </a:pPr>
            <a:r>
              <a:rPr lang="ru-RU" sz="99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Формировать культуру прозрачной цифровой коммуникации.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156"/>
          <p:cNvSpPr/>
          <p:nvPr/>
        </p:nvSpPr>
        <p:spPr>
          <a:xfrm>
            <a:off x="326287" y="1754496"/>
            <a:ext cx="6312171" cy="36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lang="ru-RU" sz="181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14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57"/>
          <p:cNvSpPr/>
          <p:nvPr/>
        </p:nvSpPr>
        <p:spPr>
          <a:xfrm>
            <a:off x="445655" y="3000009"/>
            <a:ext cx="59667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ИНЖЕНЕРНО-АНАЛИТИЧЕСКИХ КОМПЕТЕНЦИЙ, ОСНОВАННЫХ НА РАБОТЕ С ДАННЫМИ, МОДЕЛЯМИ И ПРОГНОЗИРОВАНИЕМ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0" name="Google Shape;1540;p157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143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58"/>
          <p:cNvSpPr/>
          <p:nvPr/>
        </p:nvSpPr>
        <p:spPr>
          <a:xfrm>
            <a:off x="605650" y="383575"/>
            <a:ext cx="5610300" cy="99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ИНЖЕНЕРНАЯ АНАЛИТИКА И МОДЕЛИРОВАНИЕ </a:t>
            </a:r>
            <a:b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30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НА ДАННЫХ</a:t>
            </a:r>
            <a:endParaRPr sz="3000" b="1" i="0" u="none" strike="noStrike" cap="none">
              <a:solidFill>
                <a:srgbClr val="0096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7" name="Google Shape;1547;p158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144</a:t>
            </a:fld>
            <a:endParaRPr sz="1452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8" name="Google Shape;1548;p158"/>
          <p:cNvSpPr txBox="1"/>
          <p:nvPr/>
        </p:nvSpPr>
        <p:spPr>
          <a:xfrm>
            <a:off x="407700" y="2909325"/>
            <a:ext cx="6042600" cy="5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Учебник по машинному обучению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https://education.yandex.ru/handbook/ml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Artificial Intelligence: A Modern Approach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Deep Learning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Fundamentals of Machine Learning for Predictive Data Analytics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Hands-On Machine Learning with Scikit-Learn, Keras, and TensorFlow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Kaggle. Машинное обучение и анализ данных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Machine Learning Yearning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Machine Learning: A Probabilistic Perspective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Python для сложных задач: наука о данных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The Elements of Statistical Learning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Глубокое обучение. Погружение в мир нейронных сетей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Инженерия машинного обучения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Книга: Deep Learning - Goodfellow, Bengio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https://www.deeplearningbook.org/</a:t>
            </a: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Книга — Машинное обучение без лишних слов (The Hundred-Page ML Book)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Курс — Coursera: Andrew Ng - Machine Learning —</a:t>
            </a:r>
            <a:r>
              <a:rPr lang="ru-RU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</a:t>
            </a:r>
            <a:r>
              <a:rPr lang="ru-RU" sz="1000" b="0" i="0" u="sng" strike="noStrike" cap="non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https://www.coursera.org/learn/machine-learning</a:t>
            </a:r>
            <a:endParaRPr sz="1000" u="sng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YouTube видео — YouTube: 3Blue1Brown - Neural Networks —</a:t>
            </a:r>
            <a:r>
              <a:rPr lang="ru-RU" sz="10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 </a:t>
            </a:r>
            <a:r>
              <a:rPr lang="ru-RU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https://www.youtube.com/playlist?list=PLZHQObOWTQDNU6R1_67000Dx_LFRD5VJc</a:t>
            </a:r>
            <a:endParaRPr sz="1000" u="sng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YouTube видео — YouTube: Школа менеджеров Яндекса (ML) —</a:t>
            </a:r>
            <a:r>
              <a:rPr lang="ru-RU" sz="10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 </a:t>
            </a:r>
            <a:r>
              <a:rPr lang="ru-RU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https://www.youtube.com/c/%D0%A8%D0%BA%D0%BE%D0%BB%D0%B0%D0%9C%D0%B5%D0%BD%D0%B5%D0%B4%D0%B6%D0%B5%D1%80%D0%BE%D0%B2%D0%AF%D0%BD%D0%B4%D0%B5%D0%BA%D1%81%D0%B0</a:t>
            </a:r>
            <a:endParaRPr sz="1000" u="sng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sng" strike="noStrike" cap="non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9" name="Google Shape;1549;p158"/>
          <p:cNvSpPr txBox="1"/>
          <p:nvPr/>
        </p:nvSpPr>
        <p:spPr>
          <a:xfrm>
            <a:off x="605662" y="2228210"/>
            <a:ext cx="490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Список ресурсов для развития компетенций</a:t>
            </a:r>
            <a:endParaRPr sz="1400" b="1" i="0" u="none" strike="noStrike" cap="none">
              <a:solidFill>
                <a:srgbClr val="00963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59"/>
          <p:cNvSpPr txBox="1"/>
          <p:nvPr/>
        </p:nvSpPr>
        <p:spPr>
          <a:xfrm>
            <a:off x="158700" y="530225"/>
            <a:ext cx="6540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50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МЕТОДОВ МАШИННОГО ОБУЧЕНИЯ И ПРЕДИКТИВНОЙ АНАЛИТИКИ</a:t>
            </a:r>
            <a:endParaRPr sz="19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7" name="Google Shape;1557;p159"/>
          <p:cNvSpPr txBox="1"/>
          <p:nvPr/>
        </p:nvSpPr>
        <p:spPr>
          <a:xfrm>
            <a:off x="158700" y="1698625"/>
            <a:ext cx="59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8" name="Google Shape;1558;p159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базовые концепции ML и типы моделей, применимые в промышленности.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обучающие демо по применению ML-моделей в корпоративном контуре.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интерпретации моделей: feature importance, качество прогнозов.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шаблоны подготовки фичей и подходы к очистке данных.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примерами успешных ML-кейсов в отрасли.</a:t>
            </a:r>
            <a:endParaRPr sz="997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p159"/>
          <p:cNvSpPr txBox="1"/>
          <p:nvPr/>
        </p:nvSpPr>
        <p:spPr>
          <a:xfrm>
            <a:off x="347025" y="5132400"/>
            <a:ext cx="59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0" name="Google Shape;1560;p159"/>
          <p:cNvSpPr/>
          <p:nvPr/>
        </p:nvSpPr>
        <p:spPr>
          <a:xfrm>
            <a:off x="347024" y="5842434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готовые ML-модели для поддержки рабочих задач.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выводы моделей с фактическими результатами.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случаи, когда модель ошибалась, фиксировать причины.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обсуждениях качества данных с аналитиками.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Пробовать адаптировать параметры готовых моделей под рабочие сценарии.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145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60"/>
          <p:cNvSpPr txBox="1"/>
          <p:nvPr/>
        </p:nvSpPr>
        <p:spPr>
          <a:xfrm>
            <a:off x="158700" y="530225"/>
            <a:ext cx="6540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50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МЕТОДОВ МАШИННОГО ОБУЧЕНИЯ И ПРЕДИКТИВНОЙ АНАЛИТИКИ</a:t>
            </a:r>
            <a:endParaRPr sz="19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8" name="Google Shape;1568;p160"/>
          <p:cNvSpPr txBox="1"/>
          <p:nvPr/>
        </p:nvSpPr>
        <p:spPr>
          <a:xfrm>
            <a:off x="158700" y="1521700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9" name="Google Shape;1569;p160"/>
          <p:cNvSpPr/>
          <p:nvPr/>
        </p:nvSpPr>
        <p:spPr>
          <a:xfrm>
            <a:off x="347025" y="2048239"/>
            <a:ext cx="60645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пример готовой ML-модели и попробовать интерпретировать результаты.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Проанализировать, какие данные используются моделью и почему.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Применить готовую модель для решения прикладной задачи.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базовую проверку качества с помощью доступных метрик.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и протестировать модель под типовую задачу подразделения.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выводы для принятия решения на основе прогноза.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или улучшить ML-модель, адаптировав фичи и гиперпараметры.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Объяснить модель бизнес-заказчикам: сильные стороны, ограничения, риски.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ML-подходов и методики оценки качества.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интерпретации моделей и применению ML в подразделении.</a:t>
            </a:r>
            <a:b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ML-решения на смежные функции.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146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61"/>
          <p:cNvSpPr txBox="1"/>
          <p:nvPr/>
        </p:nvSpPr>
        <p:spPr>
          <a:xfrm>
            <a:off x="55500" y="492125"/>
            <a:ext cx="67470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ФОРМАЛИЗАЦИЯ ПРОЦЕССОВ В ВИДЕ МАТЕМАТИЧЕСКИХ МОДЕЛЕЙ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7" name="Google Shape;1577;p161"/>
          <p:cNvSpPr txBox="1"/>
          <p:nvPr/>
        </p:nvSpPr>
        <p:spPr>
          <a:xfrm>
            <a:off x="158750" y="149225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8" name="Google Shape;1578;p161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принципы математического моделирования процессов.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типовых моделей в производстве или логистике.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подходами к калибровке моделей.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примеры зависимости входных параметров и результатов моделей.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внутренние инструкции по моделированию (если есть).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9" name="Google Shape;1579;p161"/>
          <p:cNvSpPr txBox="1"/>
          <p:nvPr/>
        </p:nvSpPr>
        <p:spPr>
          <a:xfrm>
            <a:off x="158750" y="458295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0" name="Google Shape;1580;p161"/>
          <p:cNvSpPr/>
          <p:nvPr/>
        </p:nvSpPr>
        <p:spPr>
          <a:xfrm>
            <a:off x="347024" y="5207434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Определять параметры, влияющие на производственный или офисный процесс.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Описывать процессы в виде алгоритмов.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Сопоставлять фактические данные с ожидаемыми значениями модели.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подготовке данных для построения зависимостей.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Проверять корректность исходных предпосылок моделей.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147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62"/>
          <p:cNvSpPr txBox="1"/>
          <p:nvPr/>
        </p:nvSpPr>
        <p:spPr>
          <a:xfrm>
            <a:off x="270572" y="310608"/>
            <a:ext cx="67470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ФОРМАЛИЗАЦИЯ ПРОЦЕССОВ В ВИДЕ МАТЕМАТИЧЕСКИХ МОДЕЛЕЙ</a:t>
            </a:r>
            <a:endParaRPr sz="23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8" name="Google Shape;1588;p162"/>
          <p:cNvSpPr txBox="1"/>
          <p:nvPr/>
        </p:nvSpPr>
        <p:spPr>
          <a:xfrm>
            <a:off x="270572" y="1260405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9" name="Google Shape;1589;p162"/>
          <p:cNvSpPr/>
          <p:nvPr/>
        </p:nvSpPr>
        <p:spPr>
          <a:xfrm>
            <a:off x="347025" y="1889500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простое математическое описание процесса по примеру.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Повторить расчет зависимости по шаблону.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данные под руководством наставника.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простую зависимость и объяснить ее смысл.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базовую модель типового процесса: входы, выходы, ограничения.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интерпретацию результатов и оформить выводы.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сложную модель с несколькими переменными.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калибровку и оценить точность, ограничения и применимость.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Разработать стандарты моделирования в своей функции.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формализации процессов и созданию математических моделей.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Montserrat"/>
              <a:buChar char="o"/>
            </a:pPr>
            <a:r>
              <a:rPr lang="ru-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ML-решения на смежные функции.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148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63"/>
          <p:cNvSpPr txBox="1"/>
          <p:nvPr/>
        </p:nvSpPr>
        <p:spPr>
          <a:xfrm>
            <a:off x="230125" y="492125"/>
            <a:ext cx="6747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ПРИКЛАДНОЙ КОДИНГ (PYTHON, SQL)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7" name="Google Shape;1597;p163"/>
          <p:cNvSpPr txBox="1"/>
          <p:nvPr/>
        </p:nvSpPr>
        <p:spPr>
          <a:xfrm>
            <a:off x="158750" y="149225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8" name="Google Shape;1598;p163"/>
          <p:cNvSpPr/>
          <p:nvPr/>
        </p:nvSpPr>
        <p:spPr>
          <a:xfrm>
            <a:off x="347024" y="205465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Изучить базовые курсы по Python/SQL.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типовые скрипты, используемые в компании.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разборы задач аналитики, где применяются SQL-запросы и Python-скрипты.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подходы к написанию воспроизводимых расчетов.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корпоративными библиотеками и шаблонами кода.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163"/>
          <p:cNvSpPr txBox="1"/>
          <p:nvPr/>
        </p:nvSpPr>
        <p:spPr>
          <a:xfrm>
            <a:off x="158750" y="458295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0" name="Google Shape;1600;p163"/>
          <p:cNvSpPr/>
          <p:nvPr/>
        </p:nvSpPr>
        <p:spPr>
          <a:xfrm>
            <a:off x="396749" y="51324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Запускать готовые скрипты и анализировать результаты.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Исправлять простые ошибки в коде.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Вносить изменения в SQL-запросы (например, фильтры, поля).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результаты ручных и автоматизированных расчетов.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Накоплять набор собственных рабочих скриптов.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149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64"/>
          <p:cNvSpPr txBox="1"/>
          <p:nvPr/>
        </p:nvSpPr>
        <p:spPr>
          <a:xfrm>
            <a:off x="230125" y="492125"/>
            <a:ext cx="6747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ПРИКЛАДНОЙ КОДИНГ (PYTHON, SQL)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8" name="Google Shape;1608;p164"/>
          <p:cNvSpPr txBox="1"/>
          <p:nvPr/>
        </p:nvSpPr>
        <p:spPr>
          <a:xfrm>
            <a:off x="158700" y="1093075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9" name="Google Shape;1609;p164"/>
          <p:cNvSpPr/>
          <p:nvPr/>
        </p:nvSpPr>
        <p:spPr>
          <a:xfrm>
            <a:off x="347025" y="1794250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готовый Python-скрипт или SQL-запрос, проверить корректность результата.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Повторить расчет вручную и сравнить.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Внести минимальные правки в готовый скрипт под задачу.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Исправить простые ошибки синтаксиса.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Написать собственный скрипт для типовой аналитической задачи.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Обеспечить корректность вычислений и воспроизводимость.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набор модулей и функций для автоматизации задач отдела.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выполнение запросов/скриптов.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Разрабатывать внутренние стандарты кодинга.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Python/SQL и подходам воспроизводимых расчетов.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150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65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ПРЕДИКТИВНОЙ АНАЛИТИКИ К ОБОРУДОВАНИЮ И ПРОИЗВОДСТВЕННЫМ РИСКАМ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7" name="Google Shape;1617;p165"/>
          <p:cNvSpPr txBox="1"/>
          <p:nvPr/>
        </p:nvSpPr>
        <p:spPr>
          <a:xfrm>
            <a:off x="333375" y="171450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8" name="Google Shape;1618;p165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основы предиктивной аналитики оборудования.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Смотреть примеры моделей прогнозирования отказов.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принципы анализа временных рядов.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кейсы применения предиктивных моделей в нефтегазе.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методами расчета эффекта от предотвращенных отказов.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9" name="Google Shape;1619;p165"/>
          <p:cNvSpPr txBox="1"/>
          <p:nvPr/>
        </p:nvSpPr>
        <p:spPr>
          <a:xfrm>
            <a:off x="158750" y="458295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0" name="Google Shape;1620;p165"/>
          <p:cNvSpPr/>
          <p:nvPr/>
        </p:nvSpPr>
        <p:spPr>
          <a:xfrm>
            <a:off x="325274" y="51324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Анализировать данные оборудования в текущих задачах.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фактическое состояние оборудования с прогнозами.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Определять основные параметры, влияющие на риск отказа.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Участвовать в обсуждении результатов с инженерами и аналитиками.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Предлагать выводы на основе предиктивной модели.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151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66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ПРЕДИКТИВНОЙ АНАЛИТИКИ К ОБОРУДОВАНИЮ И ПРОИЗВОДСТВЕННЫМ РИСКАМ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8" name="Google Shape;1628;p166"/>
          <p:cNvSpPr txBox="1"/>
          <p:nvPr/>
        </p:nvSpPr>
        <p:spPr>
          <a:xfrm>
            <a:off x="285700" y="1712200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9" name="Google Shape;1629;p166"/>
          <p:cNvSpPr/>
          <p:nvPr/>
        </p:nvSpPr>
        <p:spPr>
          <a:xfrm>
            <a:off x="347025" y="2222875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Ознакомиться с принципами предиктивной аналитики.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Повторить прогноз по инструкции для типовой задачи.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Интерпретировать прогнозы для оборудования и объяснить их значение.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готовую модель для оценки рисков.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Применить предиктивную модель к производственной задаче.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выводы по рискам и возможным эффектам.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Настроить модель под конкретное оборудование.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Оценить риски, подтвердить корректность прогнозов и рассчитать эффект.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подход предиктивной аналитики на смежные функции.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анализу временных рядов и применению моделей.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152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67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МОДЕЛИРОВАНИЕ АЛЬТЕРНАТИВНЫХ СЦЕНАРИЕВ И РАСЧЕТ ЧУВСТВИТЕЛЬНОСТИ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7" name="Google Shape;1637;p167"/>
          <p:cNvSpPr txBox="1"/>
          <p:nvPr/>
        </p:nvSpPr>
        <p:spPr>
          <a:xfrm>
            <a:off x="333375" y="1714500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И САМОРАЗВИТИЕ (10%)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8" name="Google Shape;1638;p167"/>
          <p:cNvSpPr/>
          <p:nvPr/>
        </p:nvSpPr>
        <p:spPr>
          <a:xfrm>
            <a:off x="347024" y="2276909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принципы scenario-planning.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Просматривать примеры чувствительности параметров (sensitivity analysis).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Разбирать типовые сценарии для производственных и офисных функций.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Изучать методы оценки рисков.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Учиться использовать инструменты, применимые для расчетов (Excel, BI и др.).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9" name="Google Shape;1639;p167"/>
          <p:cNvSpPr txBox="1"/>
          <p:nvPr/>
        </p:nvSpPr>
        <p:spPr>
          <a:xfrm>
            <a:off x="158750" y="4805200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НА РАБОЧЕМ МЕСТЕ (20%)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0" name="Google Shape;1640;p167"/>
          <p:cNvSpPr/>
          <p:nvPr/>
        </p:nvSpPr>
        <p:spPr>
          <a:xfrm>
            <a:off x="347024" y="5461434"/>
            <a:ext cx="60645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Выполнять базовые сценарные расчеты для своих задач.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Находить параметры, наиболее чувствительные к изменениям.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Сравнивать несколько вариантов решения и фиксировать риски.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Проводить мини-разборы сценариев с коллегами.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Выявлять ситуации, где сценарный подход помогает принять решение.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153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68"/>
          <p:cNvSpPr txBox="1"/>
          <p:nvPr/>
        </p:nvSpPr>
        <p:spPr>
          <a:xfrm>
            <a:off x="325375" y="492125"/>
            <a:ext cx="64692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МОДЕЛИРОВАНИЕ АЛЬТЕРНАТИВНЫХ СЦЕНАРИЕВ И РАСЧЕТ ЧУВСТВИТЕЛЬНОСТИ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8" name="Google Shape;1648;p168"/>
          <p:cNvSpPr txBox="1"/>
          <p:nvPr/>
        </p:nvSpPr>
        <p:spPr>
          <a:xfrm>
            <a:off x="285700" y="1712200"/>
            <a:ext cx="60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ПРАКТИКЕ (70%)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9" name="Google Shape;1649;p168"/>
          <p:cNvSpPr/>
          <p:nvPr/>
        </p:nvSpPr>
        <p:spPr>
          <a:xfrm>
            <a:off x="347025" y="2222875"/>
            <a:ext cx="6288600" cy="7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00" rIns="81625" bIns="408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простой расчет чувствительности по инструкции.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Сравнить два сценария и объяснить разницу.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2–3 сценария и проанализировать влияние ключевого параметра.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Сделать выводы и обсудить их с наставником.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анализ чувствительности для типовой задачи подразделения.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итоговые выводы и предложить рекомендации.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4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Построить комплексный сценарий с несколькими параметрами.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оценку рисков и влияния на решение.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5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стандарты scenario-planning для своей функции.</a:t>
            </a:r>
            <a:b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o"/>
            </a:pPr>
            <a:r>
              <a:rPr lang="ru-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Обучать коллег анализу чувствительности и применению сценариев в управлении.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154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69"/>
          <p:cNvSpPr txBox="1"/>
          <p:nvPr/>
        </p:nvSpPr>
        <p:spPr>
          <a:xfrm>
            <a:off x="368300" y="-54487"/>
            <a:ext cx="6287400" cy="9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Корпоративные системы и инструменты</a:t>
            </a: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Outlook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почтовая система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Outlook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Программа для работы с электронной почтой, календарем и контактами.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1С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система учета 1С. Система для бухгалтерского, налогового и управленческого учета, в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тч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кадрового.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Vinteo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видеоконференций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Vinteo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Корпоративный инструмент для проведения онлайн-совещаний и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видеовстреч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Мессенджер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Внутренний мессенджер компании.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Приложение «Зарубежнефть»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Корпоративное мобильное приложение компании. Мобильный доступ к сервисам и информации компании.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WebTutor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дистанционного обучения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WebTutor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Платформа для онлайн-курсов, тестирования и оценки знаний.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Корпоративный портал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Корпоративный информационный портал. Единая точка доступа к новостям, документам и цифровым сервисам компании.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Табличный редактор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Инструмент для работы с таблицами, расчетами, отчетами.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PowerPoint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Программа для подготовки презентаций. Средство создания и проведения презентаций.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P7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Офисный пакет для работы с текстом, таблицами и презентациями. Русский офисный пакет, аналог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Microsoft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Office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Visiology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Платформа визуальной аналитики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Visiology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Система для построения отчетов и аналитических панелей.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Форсайт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Платформа визуальной аналитики «Форсайт». Корпоративный инструмент для подготовки визуальной аналитики и отчетности.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СУЗ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управления знаниями. Корпоративная платформа для хранения и распространения обучающих и методических материалов.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155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70"/>
          <p:cNvSpPr txBox="1"/>
          <p:nvPr/>
        </p:nvSpPr>
        <p:spPr>
          <a:xfrm>
            <a:off x="368300" y="520520"/>
            <a:ext cx="6287400" cy="87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Корпоративные системы и инструменты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бот Neo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Цифровой ассистент Neo. Корпоративный чат-бот/помощник для сотрудников.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Мессенджеры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Корпоративные и внешние мессенджеры. Инструменты для обмена сообщениями в цифровой среде.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ERP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ресурсная система (ERP). Система планирования и учета ресурсов предприятия.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CRM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Система управления взаимоотношениями с клиентами (CRM). Система работы с клиентской базой и историей взаимодействий.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Производственная диспетчерская система (MES). Система оперативного управления производственными процессами.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BPMSoft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управления бизнес-процессами BPMSoft. Платформа для моделирования и автоматизации процессов.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Битрикс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Корпоративная система «Битрикс24». Решение для задач, коммуникаций и бизнес-процессов.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Robin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Платформа роботизации процессов Robin. Программное решение для настройки и запуска программных роботов.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Grafana / Graphana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Система мониторинга и визуализации показателей Grafana. Инструмент для мониторинга и анализа технических и бизнес-метрик.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Производственные и инженерные системы и данные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КИП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Контрольно-измерительные приборы. Оборудование для измерения параметров технологического процесса.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АСУ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Автоматизированная система управления. Обобщенное название автоматизированных систем управления объектами.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АСУ ТП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Автоматизированная система управления технологическими процессами.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156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171"/>
          <p:cNvSpPr txBox="1"/>
          <p:nvPr/>
        </p:nvSpPr>
        <p:spPr>
          <a:xfrm>
            <a:off x="368300" y="475872"/>
            <a:ext cx="6287400" cy="84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управления технологическими процессами на промысловых объектах.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АСОДУ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Автоматизированная система оперативно-диспетчерского управления. Система мониторинга и управления производством в режиме реального времени.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ПАИ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Система промысловой (производственной) автоматизированной информации. Система сбора, хранения и анализа производственных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Сенсорные данные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Данные с датчиков. Показания приборов, установленных на оборудовании.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Производственные цифровые инструменты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Цифровые системы и устройства на производственных объектах. Включают АСУ ТП, АСОДУ, ПАИ, мобильные приложения, планшеты и др.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Информационная безопасность и защита данных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ИБ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Информационная безопасность. Направление деятельности по защите информации и информационных систем.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ПДн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Персональные данные. Сведения о физическом лице, защищаемые законодательством.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152-ФЗ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Федеральный закон № 152-ФЗ «О персональных данных». Основной закон, регулирующий обработку и защиту персональных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Фишинг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Фишинговые письма (мошеннические сообщения). Попытки выманить конфиденциальные данные через электронную почту и другие каналы.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Защищенные каналы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Защищенные каналы связи. Каналы передачи данных с обеспечением конфиденциальности и целостности информации.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Цифровая гигиена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Правила ответственного поведения в цифровой среде. Набор практик безопасного и корректного использования цифровых ресурсов.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157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72"/>
          <p:cNvSpPr txBox="1"/>
          <p:nvPr/>
        </p:nvSpPr>
        <p:spPr>
          <a:xfrm>
            <a:off x="368300" y="475872"/>
            <a:ext cx="6287400" cy="9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Финансовые и экономические показатели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EBITDA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Показатель операционной прибыли (EBITDA). Прибыль до вычета процентов, налогов и амортизации.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OPEX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Операционные расходы (OPEX). Текущие расходы на ведение деятельности.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CAPEX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Капитальные расходы (CAPEX). Инвестиционные затраты на развитие основных средств и инфраструктуры.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Окупаемость инвестиций (ROI). Показатель возврата вложенных средств.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NPV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Чистая приведенная стоимость (NPV). Показатель эффективности инвестиционных проектов с учетом стоимости денег во времени.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IRR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Внутренняя норма доходности (IRR). Показатель доходности инвестиционного проекта.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TCO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Совокупная стоимость владения (TCO). Полная стоимость владения решением, включая внедрение, поддержку и эксплуатацию.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FTE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Эквивалент полной занятости (FTE). Единица измерения трудозатрат, соответствующая одной полной ставке.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KPI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Ключевые показатели эффективности (KPI). Набор целевых показателей, по которым оценивается результативность работы.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Бизнес-кейс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Обоснование бизнес-инициативы. Документ с расчетами эффекта, затрат и рисков инициативы.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5. Методы, подходы, нотации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HADI-гипотезы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Цикл «Гипотеза–Действие–Данные–Вывод» (HADI). Структурированный подход к постановке и проверке гипотез.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Инсайты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Пользовательские и производственные инсайты. Глубокие выводы и наблюдения, полученные из данных и обратной связи.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158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73"/>
          <p:cNvSpPr txBox="1"/>
          <p:nvPr/>
        </p:nvSpPr>
        <p:spPr>
          <a:xfrm>
            <a:off x="368300" y="0"/>
            <a:ext cx="6287400" cy="9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Подход «бережливое производство»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Метод выявления и устранения потерь в процессах.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потерь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Семь видов потерь в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-подходе. Классификация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неэффективностей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процессах.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почему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Метод «пять почему». Инструмент поиска корневых причин проблемы.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OEE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Общая эффективность оборудования (OEE). Интегральный показатель использования оборудования.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VSM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Карта цепочки создания ценности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Mapping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Метод визуализации процесса «от начала до результата» с выявлением потерь.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BPMN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Нотация BPMN. Стандарт графического описания бизнес-процессов.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SIPOC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Модель SIPOC. Инструмент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верхнеуровневого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описания процесса «Поставщик–Вход–Процесс–Выход–Клиент».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Текущее состояние процесса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Описание того, как процесс устроен сейчас.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Целевое состояние процесса (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 Описание того, как процесс должен работать после изменений.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Data-driven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Подход «решения на основе данных». Принятие управленческих решений с опорой на данные и аналитику.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sensitivity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Сценарное моделирование и анализ чувствительности. Анализ влияния изменений параметров на результаты (сценарное планирование).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Сценарное планирование. Подход к подготовке управленческих решений на основе нескольких сценариев развития.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6. Данные, базы данных и аналитика</a:t>
            </a: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SQL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Язык структурированных запросов (SQL). Язык работы с базами данных.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БД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База данных (БД). Структурированное хранилище данных.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Системы бизнес-аналитики (BI). Класс систем для анализа данных и подготовки управленческих отчетов.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159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74"/>
          <p:cNvSpPr txBox="1"/>
          <p:nvPr/>
        </p:nvSpPr>
        <p:spPr>
          <a:xfrm>
            <a:off x="368300" y="155361"/>
            <a:ext cx="6287400" cy="9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 dirty="0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Дашборд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Информационная панель показателей. Экран с ключевыми метриками и графиками.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VBA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Макроязык VBA. Язык сценариев для автоматизации операций в </a:t>
            </a:r>
            <a:r>
              <a:rPr lang="ru-RU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Валидация</a:t>
            </a: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данных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Проверка корректности данных. Процедуры по контролю качества и устранению ошибок.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7. Автоматизация, интеграции и цифровые технологии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RPA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Роботизация бизнес-процессов (RPA). Использование программных роботов для выполнения рутинных операций.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BPM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Управление бизнес-процессами (BPM). Подход и системы для описания, автоматизации и мониторинга процессов.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Программный интерфейс взаимодействия (API). Механизм обмена данными между информационными системами.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Шина данных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Интеграционная шина данных. Инфраструктура для обмена данными между системами.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Мастер-данные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Эталонные (мастер-) данные. Базовые справочники и ключевые данные, используемые во всех системах.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Операционные данные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Оперативные данные. Текущие рабочие данные, формируемые в ходе процессов.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Машинное обучение (ML). Методы построения моделей и прогнозов на основе данных.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Искусственный интеллект (AI/ИИ). Класс технологий интеллектуальной обработки информации.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VR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Виртуальная реальность (VR). Технологии создания виртуальной среды.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 </a:t>
            </a: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Дополненная реальность (AR). Технологии наложения цифровой информации на реальный мир.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Montserrat"/>
              <a:buNone/>
            </a:pPr>
            <a:fld id="{00000000-1234-1234-1234-123412341234}" type="slidenum">
              <a:rPr lang="ru-RU" sz="145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160</a:t>
            </a:fld>
            <a:endParaRPr sz="1452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75"/>
          <p:cNvSpPr txBox="1"/>
          <p:nvPr/>
        </p:nvSpPr>
        <p:spPr>
          <a:xfrm>
            <a:off x="368300" y="475872"/>
            <a:ext cx="6287400" cy="8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Цифровой двойник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Цифровой двойник объекта. Виртуальная модель оборудования, процесса или системы.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Low-code / no-code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Платформы разработки с минимальным/без программирования. Инструменты для создания решений без глубоких навыков программирования.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Цифровой ассистент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Цифровой помощник. Программный сервис, помогающий сотруднику выполнять задачи.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Промпт-инжиниринг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Настройка запросов к ИИ (промпт-инжиниринг). Практика формулирования запросов для получения качественных ответов от ИИ-систем.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8. Архитектура, ИТ и управление решениями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Информационная система (ИС). Программно-технический комплекс для обработки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Информационные технологии (ИТ). Область, связанная с созданием и эксплуатацией информационных систем.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ИТ-ландшафт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Ландшафт информационных систем. Совокупность ключевых систем и их взаимосвязей в компании.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Архитектурные артефакты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Архитектурные артефакты. Диаграммы, схемы, описания, отражающие устройство ИТ-архитектуры.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ТЗ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Техническое задание (ТЗ). Документ с формализованными требованиями к системе или доработке.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UAT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Приемо-сдаточные испытания (UAT). Тестирование решения пользователями перед вводом в эксплуатацию.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Roll-out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Масштабирование решения (roll-out). Поэтапное распространение решения на новые объекты и подразделения.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161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76"/>
          <p:cNvSpPr txBox="1"/>
          <p:nvPr/>
        </p:nvSpPr>
        <p:spPr>
          <a:xfrm>
            <a:off x="368300" y="475872"/>
            <a:ext cx="6287400" cy="77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059"/>
              <a:buFont typeface="Arial"/>
              <a:buNone/>
            </a:pPr>
            <a:r>
              <a:rPr lang="ru-RU" sz="2059" b="1">
                <a:solidFill>
                  <a:srgbClr val="009639"/>
                </a:solidFill>
                <a:latin typeface="Montserrat"/>
                <a:ea typeface="Montserrat"/>
                <a:cs typeface="Montserrat"/>
                <a:sym typeface="Montserrat"/>
              </a:rPr>
              <a:t>Словарь терминов и сокращений</a:t>
            </a:r>
            <a:endParaRPr sz="1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SLA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Соглашение об уровне сервиса (SLA). Документ, определяющий требования к качеству и параметрам услуг.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долг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Технический долг. Накопленные технические ограничения, требующие последующей доработки.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9. Инженерная аналитика и моделирование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ML-модели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Модели машинного обучения. Математические модели, обученные на данных для прогнозов и классификации.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Фичи (features)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Признаки модели (фичи). Входные параметры, используемые в моделях машинного обучения.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Математическое моделирование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Математическое описание процессов. Представление процессов в виде формул, уравнений и зависимостей.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Язык программирования Python. Распространенный язык для аналитики, моделирования и автоматизации.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Прикладной кодинг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Прикладное программирование (кодинг). Создание прикладных скриптов и программ для решения задач.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Временные ряды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Временные ряды. Последовательности значений показателей во времени, используемые для анализа и прогнозов.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Предиктивная аналитика </a:t>
            </a:r>
            <a:r>
              <a:rPr lang="ru-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Предиктивная аналитика. Аналитика, направленная на прогнозирование будущих событий на основе данных.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3;p33"/>
          <p:cNvSpPr txBox="1">
            <a:spLocks/>
          </p:cNvSpPr>
          <p:nvPr/>
        </p:nvSpPr>
        <p:spPr>
          <a:xfrm>
            <a:off x="6303272" y="9140513"/>
            <a:ext cx="1510871" cy="3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buSzPts val="1452"/>
              <a:buFont typeface="Montserrat"/>
              <a:buNone/>
            </a:pPr>
            <a:fld id="{00000000-1234-1234-1234-123412341234}" type="slidenum">
              <a:rPr lang="ru-RU" sz="1452" smtClean="0">
                <a:solidFill>
                  <a:srgbClr val="000000"/>
                </a:solidFill>
              </a:rPr>
              <a:pPr>
                <a:buSzPts val="1452"/>
                <a:buFont typeface="Montserrat"/>
                <a:buNone/>
              </a:pPr>
              <a:t>162</a:t>
            </a:fld>
            <a:endParaRPr lang="ru-RU" sz="145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24643</Words>
  <Application>Microsoft Office PowerPoint</Application>
  <PresentationFormat>Лист A4 (210x297 мм)</PresentationFormat>
  <Paragraphs>3867</Paragraphs>
  <Slides>162</Slides>
  <Notes>162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162</vt:i4>
      </vt:variant>
    </vt:vector>
  </HeadingPairs>
  <TitlesOfParts>
    <vt:vector size="168" baseType="lpstr">
      <vt:lpstr>Courier New</vt:lpstr>
      <vt:lpstr>Montserrat</vt:lpstr>
      <vt:lpstr>Calibri</vt:lpstr>
      <vt:lpstr>Helvetica Neue</vt:lpstr>
      <vt:lpstr>Arial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Шульга Валентина Александровна</cp:lastModifiedBy>
  <cp:revision>3</cp:revision>
  <dcterms:modified xsi:type="dcterms:W3CDTF">2025-12-24T12:54:28Z</dcterms:modified>
</cp:coreProperties>
</file>